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ORAL — Diapositiva 1 (≈2 minutos)
"Esta es la arquitectura general de SAMR, el Sistema de Atención Médica Remota. Quiero que vean, de un vistazo, cómo encajan todas las piezas antes de entrar al detalle.
Arriba tenemos el frontend: una aplicación React tipo PWA, que es el único punto de entrada del paciente, el médico y el personal administrativo. Toda petición pasa primero por el API Gateway, que cumple una función crítica: valida el token JWT en cada llamada antes de enrutarla, y todo el canal viaja cifrado con TLS 1.3. Esto centraliza la seguridad en un único punto, en vez de dejar que cada servicio implemente su propia política.
Debajo del Gateway está el corazón del sistema: cinco microservicios acotados por dominio, M1 a M5 — usuarios, triaje, monitoreo, teleconsulta y auditoría — cada uno empaquetado en su propio contenedor Docker y desplegado en Cloud Run sobre Google Cloud Platform. Esto nos da autoescalado independiente por módulo y una disponibilidad mayor o igual al 99.5%.
Y en la capa inferior están los componentes que sostienen a esos microservicios: BullMQ sobre Redis para la comunicación asíncrona entre módulos; Med-Gemini, el motor clínico de inteligencia artificial de Google, integrado siempre mediante un adaptador hexagonal, nunca de forma directa; y dos bases de datos con propósitos distintos: PostgreSQL para el historial clínico y los logs de auditoría, donde necesitamos consistencia fuerte, y TimescaleDB para los flujos IoT de alto volumen, donde lo crítico es la velocidad de ingesta.
En resumen: tres patrones arquitectónicos —hexagonal, orientado a eventos y microservicios— trabajando juntos para que el sistema sea, al mismo tiempo, disponible, seguro, explicable y escalable. En las siguientes diapositivas voy a profundizar en cada una de estas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ORAL — Diapositiva 2 (≈2 minutos)
"Aquí quiero mostrarles las dos decisiones arquitectónicas que, para mí, definen la robustez de SAMR.
A la izquierda, la arquitectura hexagonal, aplicada específicamente a la integración de Med-Gemini, el motor clínico de inteligencia artificial. La lógica de negocio de los módulos M2, M3 y M4 nunca habla directamente con la API de Google: siempre pasa por un adaptador que expone un contrato OpenAPI, el cual exige un campo de explicación obligatorio en cada respuesta. Esto nos da dos cosas al mismo tiempo: explicabilidad garantizada al cien por ciento, porque es un requisito contractual, no una promesa; y mantenibilidad, porque si el modelo cambia de versión o incluso se reemplaza por otro proveedor, solo se toca el adaptador, nunca la lógica de negocio. Además, el adaptador incorpora un circuit breaker: si Med-Gemini no responde, el sistema entra en modo degradado y sigue funcionando sin sugerencias de IA, en lugar de caerse.
A la derecha, la arquitectura orientada a eventos con BullMQ sobre Redis. M2 y M3 publican eventos —una solicitud de triaje, una alerta biométrica— en una cola persistente, sin esperar respuesta de nadie. Del otro lado, distintos consumidores, el paciente, el médico y el módulo de auditoría M5, procesan ese mismo evento de forma independiente y en paralelo. Esto es lo que nos permite notificar de forma simultánea, no en secuencia, y cumplir los límites de latencia más exigentes del sistema sin que un consumidor lento bloquee a los demás.
Juntas, estas dos decisiones resuelven el mismo problema de fondo: que un componente externo o un componente lento nunca comprometa la disponibilidad del resto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ORAL — Diapositiva 3 (≈2 minutos)
"Cierro con tres decisiones que garantizan que el sistema sea seguro, auditable y operable en producción.
Primero, seguridad. M1 es el único módulo que emite tokens JWT en todo el sistema, apoyado en autenticación multifactor. El API Gateway valida ese token en cada petición antes de enrutarla, así que ningún microservicio decide su propia política de acceso; todos heredan la misma. TLS 1.3 protege todos los canales en tránsito, y AES-256 con pgcrypto cifra los datos en reposo. Esta centralización es, precisamente, lo que evita el riesgo de que una validación inconsistente abra una puerta de acceso no autorizado a datos clínicos.
Segundo, auditoría. M5 opera como un bus transversal: todos los módulos publican sus eventos de auditoría de forma asíncrona, y es M5 quien los hashea con SHA-256 y los almacena de forma inmutable en PostgreSQL. La decisión clave es que ningún módulo controla su propio rastro: quien genera el evento nunca es quien lo custodia. Esto no es una preferencia técnica, es una exigencia del Ministerio de Salud Pública, y en el prototipo se verificó con mil ochocientos cuarenta y dos logs auditables.
Y tercero, el despliegue. Cada uno de los cinco microservicios corre en su propio contenedor Docker, desplegado en Cloud Run sobre Google Cloud Platform, con autoescalado independiente por módulo. Esto es lo que sostiene, en la práctica, la disponibilidad mayor o igual al 99.5% que exige la visión del producto.
Con esto termino la exposición de las decisiones arquitectónicas de SAMR. Quedo atenta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notesSlide" Target="../notesSlides/notesSlide1.xml"/><Relationship Id="rId10"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2.png"/><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image" Target="../media/image10.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502920"/>
            <a:ext cx="10058400" cy="548640"/>
          </a:xfrm>
          <a:prstGeom prst="rect">
            <a:avLst/>
          </a:prstGeom>
          <a:noFill/>
        </p:spPr>
        <p:txBody>
          <a:bodyPr wrap="square" lIns="0" tIns="0" rIns="0" bIns="0" rtlCol="0" anchor="ctr"/>
          <a:lstStyle/>
          <a:p>
            <a:pPr marL="0" indent="0">
              <a:buNone/>
            </a:pPr>
            <a:r>
              <a:rPr lang="en-US" sz="3000" b="1" dirty="0">
                <a:solidFill>
                  <a:srgbClr val="0E2A47"/>
                </a:solidFill>
                <a:latin typeface="Cambria" panose="02040503050406030204" pitchFamily="34" charset="0"/>
                <a:ea typeface="Cambria" panose="02040503050406030204" pitchFamily="34" charset="-122"/>
                <a:cs typeface="Cambria" panose="02040503050406030204" pitchFamily="34" charset="-120"/>
              </a:rPr>
              <a:t>Arquitectura </a:t>
            </a:r>
            <a:r>
              <a:rPr lang="es-ES" altLang="en-US" sz="3000" b="1" dirty="0">
                <a:solidFill>
                  <a:srgbClr val="0E2A47"/>
                </a:solidFill>
                <a:latin typeface="Cambria" panose="02040503050406030204" pitchFamily="34" charset="0"/>
                <a:ea typeface="Cambria" panose="02040503050406030204" pitchFamily="34" charset="-122"/>
                <a:cs typeface="Cambria" panose="02040503050406030204" pitchFamily="34" charset="-120"/>
              </a:rPr>
              <a:t>g</a:t>
            </a:r>
            <a:r>
              <a:rPr lang="en-US" sz="3000" b="1" dirty="0">
                <a:solidFill>
                  <a:srgbClr val="0E2A47"/>
                </a:solidFill>
                <a:latin typeface="Cambria" panose="02040503050406030204" pitchFamily="34" charset="0"/>
                <a:ea typeface="Cambria" panose="02040503050406030204" pitchFamily="34" charset="-122"/>
                <a:cs typeface="Cambria" panose="02040503050406030204" pitchFamily="34" charset="-120"/>
              </a:rPr>
              <a:t>eneral del </a:t>
            </a:r>
            <a:r>
              <a:rPr lang="es-ES" altLang="en-US" sz="3000" b="1" dirty="0">
                <a:solidFill>
                  <a:srgbClr val="0E2A47"/>
                </a:solidFill>
                <a:latin typeface="Cambria" panose="02040503050406030204" pitchFamily="34" charset="0"/>
                <a:ea typeface="Cambria" panose="02040503050406030204" pitchFamily="34" charset="-122"/>
                <a:cs typeface="Cambria" panose="02040503050406030204" pitchFamily="34" charset="-120"/>
              </a:rPr>
              <a:t>s</a:t>
            </a:r>
            <a:r>
              <a:rPr lang="en-US" sz="3000" b="1" dirty="0">
                <a:solidFill>
                  <a:srgbClr val="0E2A47"/>
                </a:solidFill>
                <a:latin typeface="Cambria" panose="02040503050406030204" pitchFamily="34" charset="0"/>
                <a:ea typeface="Cambria" panose="02040503050406030204" pitchFamily="34" charset="-122"/>
                <a:cs typeface="Cambria" panose="02040503050406030204" pitchFamily="34" charset="-120"/>
              </a:rPr>
              <a:t>istema</a:t>
            </a:r>
            <a:r>
              <a:rPr lang="es-ES" altLang="en-US" sz="3000" b="1" dirty="0">
                <a:solidFill>
                  <a:srgbClr val="0E2A47"/>
                </a:solidFill>
                <a:latin typeface="Cambria" panose="02040503050406030204" pitchFamily="34" charset="0"/>
                <a:ea typeface="Cambria" panose="02040503050406030204" pitchFamily="34" charset="-122"/>
                <a:cs typeface="Cambria" panose="02040503050406030204" pitchFamily="34" charset="-120"/>
              </a:rPr>
              <a:t> SAMR</a:t>
            </a:r>
            <a:endParaRPr lang="es-ES" altLang="en-US" sz="3000" b="1" dirty="0">
              <a:solidFill>
                <a:srgbClr val="0E2A47"/>
              </a:solidFill>
              <a:latin typeface="Cambria" panose="02040503050406030204" pitchFamily="34" charset="0"/>
              <a:ea typeface="Cambria" panose="02040503050406030204" pitchFamily="34" charset="-122"/>
              <a:cs typeface="Cambria" panose="02040503050406030204" pitchFamily="34" charset="-120"/>
            </a:endParaRPr>
          </a:p>
        </p:txBody>
      </p:sp>
      <p:sp>
        <p:nvSpPr>
          <p:cNvPr id="4" name="Shape 2"/>
          <p:cNvSpPr/>
          <p:nvPr/>
        </p:nvSpPr>
        <p:spPr>
          <a:xfrm>
            <a:off x="4992624" y="1051560"/>
            <a:ext cx="2194560" cy="566928"/>
          </a:xfrm>
          <a:prstGeom prst="roundRect">
            <a:avLst>
              <a:gd name="adj" fmla="val 12903"/>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5" name="Shape 3"/>
          <p:cNvSpPr/>
          <p:nvPr/>
        </p:nvSpPr>
        <p:spPr>
          <a:xfrm>
            <a:off x="5120640" y="1193292"/>
            <a:ext cx="283464" cy="283464"/>
          </a:xfrm>
          <a:prstGeom prst="ellipse">
            <a:avLst/>
          </a:prstGeom>
          <a:solidFill>
            <a:srgbClr val="1565C0"/>
          </a:solidFill>
        </p:spPr>
      </p:sp>
      <p:pic>
        <p:nvPicPr>
          <p:cNvPr id="6" name="Image 0" descr="/home/claude/pptx_proj/icon_react_icon.png"/>
          <p:cNvPicPr>
            <a:picLocks noChangeAspect="1"/>
          </p:cNvPicPr>
          <p:nvPr/>
        </p:nvPicPr>
        <p:blipFill>
          <a:blip r:embed="rId1"/>
          <a:stretch>
            <a:fillRect/>
          </a:stretch>
        </p:blipFill>
        <p:spPr>
          <a:xfrm>
            <a:off x="5188671" y="1261323"/>
            <a:ext cx="147401" cy="147401"/>
          </a:xfrm>
          <a:prstGeom prst="rect">
            <a:avLst/>
          </a:prstGeom>
        </p:spPr>
      </p:pic>
      <p:sp>
        <p:nvSpPr>
          <p:cNvPr id="7" name="Text 4"/>
          <p:cNvSpPr/>
          <p:nvPr/>
        </p:nvSpPr>
        <p:spPr>
          <a:xfrm>
            <a:off x="5513832" y="1051560"/>
            <a:ext cx="1563624" cy="566928"/>
          </a:xfrm>
          <a:prstGeom prst="rect">
            <a:avLst/>
          </a:prstGeom>
          <a:noFill/>
        </p:spPr>
        <p:txBody>
          <a:bodyPr wrap="square" lIns="0" tIns="0" rIns="0" bIns="0" rtlCol="0" anchor="ctr"/>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React PWA</a:t>
            </a:r>
            <a:endParaRPr lang="en-US" sz="1300" dirty="0"/>
          </a:p>
        </p:txBody>
      </p:sp>
      <p:sp>
        <p:nvSpPr>
          <p:cNvPr id="8" name="Shape 5"/>
          <p:cNvSpPr/>
          <p:nvPr/>
        </p:nvSpPr>
        <p:spPr>
          <a:xfrm>
            <a:off x="6089904" y="1618488"/>
            <a:ext cx="0" cy="256032"/>
          </a:xfrm>
          <a:prstGeom prst="line">
            <a:avLst/>
          </a:prstGeom>
          <a:noFill/>
          <a:ln w="22225">
            <a:solidFill>
              <a:srgbClr val="9FB3C8"/>
            </a:solidFill>
            <a:prstDash val="solid"/>
            <a:tailEnd type="triangle"/>
          </a:ln>
        </p:spPr>
      </p:sp>
      <p:sp>
        <p:nvSpPr>
          <p:cNvPr id="9" name="Shape 6"/>
          <p:cNvSpPr/>
          <p:nvPr/>
        </p:nvSpPr>
        <p:spPr>
          <a:xfrm>
            <a:off x="4443984" y="1874520"/>
            <a:ext cx="3291840" cy="566928"/>
          </a:xfrm>
          <a:prstGeom prst="roundRect">
            <a:avLst>
              <a:gd name="adj" fmla="val 12903"/>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10" name="Shape 7"/>
          <p:cNvSpPr/>
          <p:nvPr/>
        </p:nvSpPr>
        <p:spPr>
          <a:xfrm>
            <a:off x="4572000" y="2016252"/>
            <a:ext cx="283464" cy="283464"/>
          </a:xfrm>
          <a:prstGeom prst="ellipse">
            <a:avLst/>
          </a:prstGeom>
          <a:solidFill>
            <a:srgbClr val="148A54"/>
          </a:solidFill>
        </p:spPr>
      </p:sp>
      <p:pic>
        <p:nvPicPr>
          <p:cNvPr id="11" name="Image 1" descr="/home/claude/pptx_proj/icon_exchange.png"/>
          <p:cNvPicPr>
            <a:picLocks noChangeAspect="1"/>
          </p:cNvPicPr>
          <p:nvPr/>
        </p:nvPicPr>
        <p:blipFill>
          <a:blip r:embed="rId2"/>
          <a:stretch>
            <a:fillRect/>
          </a:stretch>
        </p:blipFill>
        <p:spPr>
          <a:xfrm>
            <a:off x="4640031" y="2084283"/>
            <a:ext cx="147401" cy="147401"/>
          </a:xfrm>
          <a:prstGeom prst="rect">
            <a:avLst/>
          </a:prstGeom>
        </p:spPr>
      </p:pic>
      <p:sp>
        <p:nvSpPr>
          <p:cNvPr id="12" name="Text 8"/>
          <p:cNvSpPr/>
          <p:nvPr/>
        </p:nvSpPr>
        <p:spPr>
          <a:xfrm>
            <a:off x="4965192" y="1965228"/>
            <a:ext cx="2660904" cy="283464"/>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API Gateway</a:t>
            </a:r>
            <a:endParaRPr lang="en-US" sz="1300" dirty="0"/>
          </a:p>
        </p:txBody>
      </p:sp>
      <p:sp>
        <p:nvSpPr>
          <p:cNvPr id="14" name="Shape 10"/>
          <p:cNvSpPr/>
          <p:nvPr/>
        </p:nvSpPr>
        <p:spPr>
          <a:xfrm>
            <a:off x="7479792" y="1746504"/>
            <a:ext cx="365760" cy="365760"/>
          </a:xfrm>
          <a:prstGeom prst="ellipse">
            <a:avLst/>
          </a:prstGeom>
          <a:solidFill>
            <a:srgbClr val="0E2A47"/>
          </a:solidFill>
        </p:spPr>
      </p:sp>
      <p:pic>
        <p:nvPicPr>
          <p:cNvPr id="15" name="Image 2" descr="/home/claude/pptx_proj/icon_lock.png"/>
          <p:cNvPicPr>
            <a:picLocks noChangeAspect="1"/>
          </p:cNvPicPr>
          <p:nvPr/>
        </p:nvPicPr>
        <p:blipFill>
          <a:blip r:embed="rId3"/>
          <a:stretch>
            <a:fillRect/>
          </a:stretch>
        </p:blipFill>
        <p:spPr>
          <a:xfrm>
            <a:off x="7567574" y="1834286"/>
            <a:ext cx="190195" cy="190195"/>
          </a:xfrm>
          <a:prstGeom prst="rect">
            <a:avLst/>
          </a:prstGeom>
        </p:spPr>
      </p:pic>
      <p:sp>
        <p:nvSpPr>
          <p:cNvPr id="16" name="Shape 11"/>
          <p:cNvSpPr/>
          <p:nvPr/>
        </p:nvSpPr>
        <p:spPr>
          <a:xfrm>
            <a:off x="6089904" y="2441448"/>
            <a:ext cx="0" cy="256032"/>
          </a:xfrm>
          <a:prstGeom prst="line">
            <a:avLst/>
          </a:prstGeom>
          <a:noFill/>
          <a:ln w="22225">
            <a:solidFill>
              <a:srgbClr val="9FB3C8"/>
            </a:solidFill>
            <a:prstDash val="solid"/>
            <a:tailEnd type="triangle"/>
          </a:ln>
        </p:spPr>
      </p:sp>
      <p:sp>
        <p:nvSpPr>
          <p:cNvPr id="17" name="Shape 12"/>
          <p:cNvSpPr/>
          <p:nvPr/>
        </p:nvSpPr>
        <p:spPr>
          <a:xfrm>
            <a:off x="822960" y="2697480"/>
            <a:ext cx="10543032" cy="1691640"/>
          </a:xfrm>
          <a:prstGeom prst="roundRect">
            <a:avLst>
              <a:gd name="adj" fmla="val 5405"/>
            </a:avLst>
          </a:prstGeom>
          <a:solidFill>
            <a:srgbClr val="F3F6F9"/>
          </a:solidFill>
          <a:ln w="12700">
            <a:solidFill>
              <a:srgbClr val="C7D6E3"/>
            </a:solidFill>
            <a:prstDash val="solid"/>
          </a:ln>
        </p:spPr>
      </p:sp>
      <p:sp>
        <p:nvSpPr>
          <p:cNvPr id="18" name="Shape 13"/>
          <p:cNvSpPr/>
          <p:nvPr/>
        </p:nvSpPr>
        <p:spPr>
          <a:xfrm>
            <a:off x="987552" y="2843784"/>
            <a:ext cx="365760" cy="365760"/>
          </a:xfrm>
          <a:prstGeom prst="ellipse">
            <a:avLst/>
          </a:prstGeom>
          <a:solidFill>
            <a:srgbClr val="0D47A1"/>
          </a:solidFill>
        </p:spPr>
      </p:sp>
      <p:pic>
        <p:nvPicPr>
          <p:cNvPr id="19" name="Image 3" descr="/home/claude/pptx_proj/icon_gcp.png"/>
          <p:cNvPicPr>
            <a:picLocks noChangeAspect="1"/>
          </p:cNvPicPr>
          <p:nvPr/>
        </p:nvPicPr>
        <p:blipFill>
          <a:blip r:embed="rId4"/>
          <a:stretch>
            <a:fillRect/>
          </a:stretch>
        </p:blipFill>
        <p:spPr>
          <a:xfrm>
            <a:off x="1075334" y="2931566"/>
            <a:ext cx="190195" cy="190195"/>
          </a:xfrm>
          <a:prstGeom prst="rect">
            <a:avLst/>
          </a:prstGeom>
        </p:spPr>
      </p:pic>
      <p:sp>
        <p:nvSpPr>
          <p:cNvPr id="20" name="Text 14"/>
          <p:cNvSpPr/>
          <p:nvPr/>
        </p:nvSpPr>
        <p:spPr>
          <a:xfrm>
            <a:off x="1444752" y="2825496"/>
            <a:ext cx="5486400" cy="320040"/>
          </a:xfrm>
          <a:prstGeom prst="rect">
            <a:avLst/>
          </a:prstGeom>
          <a:noFill/>
        </p:spPr>
        <p:txBody>
          <a:bodyPr wrap="square" lIns="0" tIns="0" rIns="0" bIns="0" rtlCol="0" anchor="ctr"/>
          <a:lstStyle/>
          <a:p>
            <a:pPr marL="0" indent="0">
              <a:buNone/>
            </a:pPr>
            <a:r>
              <a:rPr lang="en-US" sz="1100" b="1" kern="0" spc="100" dirty="0">
                <a:solidFill>
                  <a:srgbClr val="0E2A47"/>
                </a:solidFill>
                <a:latin typeface="Calibri" panose="020F0502020204030204" pitchFamily="34" charset="0"/>
                <a:ea typeface="Calibri" panose="020F0502020204030204" pitchFamily="34" charset="-122"/>
                <a:cs typeface="Calibri" panose="020F0502020204030204" pitchFamily="34" charset="-120"/>
              </a:rPr>
              <a:t>GOOGLE CLOUD PLATFORM  </a:t>
            </a:r>
            <a:r>
              <a:rPr lang="es-ES" altLang="en-US" sz="1100" b="1" kern="0" spc="100" dirty="0">
                <a:solidFill>
                  <a:srgbClr val="0E2A47"/>
                </a:solidFill>
                <a:latin typeface="Calibri" panose="020F0502020204030204" pitchFamily="34" charset="0"/>
                <a:ea typeface="Calibri" panose="020F0502020204030204" pitchFamily="34" charset="-122"/>
                <a:cs typeface="Calibri" panose="020F0502020204030204" pitchFamily="34" charset="-120"/>
              </a:rPr>
              <a:t>-</a:t>
            </a:r>
            <a:r>
              <a:rPr lang="en-US" sz="1100" b="1" kern="0" spc="100" dirty="0">
                <a:solidFill>
                  <a:srgbClr val="0E2A47"/>
                </a:solidFill>
                <a:latin typeface="Calibri" panose="020F0502020204030204" pitchFamily="34" charset="0"/>
                <a:ea typeface="Calibri" panose="020F0502020204030204" pitchFamily="34" charset="-122"/>
                <a:cs typeface="Calibri" panose="020F0502020204030204" pitchFamily="34" charset="-120"/>
              </a:rPr>
              <a:t>  CLOUD RUN  </a:t>
            </a:r>
            <a:r>
              <a:rPr lang="es-ES" altLang="en-US" sz="1100" b="1" kern="0" spc="100" dirty="0">
                <a:solidFill>
                  <a:srgbClr val="0E2A47"/>
                </a:solidFill>
                <a:latin typeface="Calibri" panose="020F0502020204030204" pitchFamily="34" charset="0"/>
                <a:ea typeface="Calibri" panose="020F0502020204030204" pitchFamily="34" charset="-122"/>
                <a:cs typeface="Calibri" panose="020F0502020204030204" pitchFamily="34" charset="-120"/>
              </a:rPr>
              <a:t>-</a:t>
            </a:r>
            <a:r>
              <a:rPr lang="en-US" sz="1100" b="1" kern="0" spc="100" dirty="0">
                <a:solidFill>
                  <a:srgbClr val="0E2A47"/>
                </a:solidFill>
                <a:latin typeface="Calibri" panose="020F0502020204030204" pitchFamily="34" charset="0"/>
                <a:ea typeface="Calibri" panose="020F0502020204030204" pitchFamily="34" charset="-122"/>
                <a:cs typeface="Calibri" panose="020F0502020204030204" pitchFamily="34" charset="-120"/>
              </a:rPr>
              <a:t>  DOCKER</a:t>
            </a:r>
            <a:endParaRPr lang="en-US" sz="1100" dirty="0"/>
          </a:p>
        </p:txBody>
      </p:sp>
      <p:sp>
        <p:nvSpPr>
          <p:cNvPr id="21" name="Shape 15"/>
          <p:cNvSpPr/>
          <p:nvPr/>
        </p:nvSpPr>
        <p:spPr>
          <a:xfrm>
            <a:off x="987171" y="3209163"/>
            <a:ext cx="1874520" cy="960120"/>
          </a:xfrm>
          <a:prstGeom prst="roundRect">
            <a:avLst>
              <a:gd name="adj" fmla="val 7619"/>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22" name="Shape 16"/>
          <p:cNvSpPr/>
          <p:nvPr/>
        </p:nvSpPr>
        <p:spPr>
          <a:xfrm>
            <a:off x="1170432" y="3515868"/>
            <a:ext cx="457200" cy="457200"/>
          </a:xfrm>
          <a:prstGeom prst="ellipse">
            <a:avLst/>
          </a:prstGeom>
          <a:solidFill>
            <a:srgbClr val="1565C0"/>
          </a:solidFill>
        </p:spPr>
      </p:sp>
      <p:pic>
        <p:nvPicPr>
          <p:cNvPr id="23" name="Image 4" descr="/home/claude/pptx_proj/icon_docker.png"/>
          <p:cNvPicPr>
            <a:picLocks noChangeAspect="1"/>
          </p:cNvPicPr>
          <p:nvPr/>
        </p:nvPicPr>
        <p:blipFill>
          <a:blip r:embed="rId5"/>
          <a:stretch>
            <a:fillRect/>
          </a:stretch>
        </p:blipFill>
        <p:spPr>
          <a:xfrm>
            <a:off x="1280160" y="3625596"/>
            <a:ext cx="237744" cy="237744"/>
          </a:xfrm>
          <a:prstGeom prst="rect">
            <a:avLst/>
          </a:prstGeom>
        </p:spPr>
      </p:pic>
      <p:sp>
        <p:nvSpPr>
          <p:cNvPr id="24" name="Text 17"/>
          <p:cNvSpPr/>
          <p:nvPr/>
        </p:nvSpPr>
        <p:spPr>
          <a:xfrm>
            <a:off x="1737360" y="3418027"/>
            <a:ext cx="1069848" cy="48006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M1</a:t>
            </a:r>
            <a:endParaRPr lang="en-US" sz="1300" dirty="0"/>
          </a:p>
        </p:txBody>
      </p:sp>
      <p:sp>
        <p:nvSpPr>
          <p:cNvPr id="26" name="Shape 19"/>
          <p:cNvSpPr/>
          <p:nvPr/>
        </p:nvSpPr>
        <p:spPr>
          <a:xfrm>
            <a:off x="3099816" y="3264408"/>
            <a:ext cx="1874520" cy="960120"/>
          </a:xfrm>
          <a:prstGeom prst="roundRect">
            <a:avLst>
              <a:gd name="adj" fmla="val 7619"/>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27" name="Shape 20"/>
          <p:cNvSpPr/>
          <p:nvPr/>
        </p:nvSpPr>
        <p:spPr>
          <a:xfrm>
            <a:off x="3227832" y="3515868"/>
            <a:ext cx="457200" cy="457200"/>
          </a:xfrm>
          <a:prstGeom prst="ellipse">
            <a:avLst/>
          </a:prstGeom>
          <a:solidFill>
            <a:srgbClr val="1565C0"/>
          </a:solidFill>
        </p:spPr>
      </p:sp>
      <p:pic>
        <p:nvPicPr>
          <p:cNvPr id="28" name="Image 5" descr="/home/claude/pptx_proj/icon_docker.png"/>
          <p:cNvPicPr>
            <a:picLocks noChangeAspect="1"/>
          </p:cNvPicPr>
          <p:nvPr/>
        </p:nvPicPr>
        <p:blipFill>
          <a:blip r:embed="rId5"/>
          <a:stretch>
            <a:fillRect/>
          </a:stretch>
        </p:blipFill>
        <p:spPr>
          <a:xfrm>
            <a:off x="3337560" y="3625596"/>
            <a:ext cx="237744" cy="237744"/>
          </a:xfrm>
          <a:prstGeom prst="rect">
            <a:avLst/>
          </a:prstGeom>
        </p:spPr>
      </p:pic>
      <p:sp>
        <p:nvSpPr>
          <p:cNvPr id="29" name="Text 21"/>
          <p:cNvSpPr/>
          <p:nvPr/>
        </p:nvSpPr>
        <p:spPr>
          <a:xfrm>
            <a:off x="3794760" y="3418027"/>
            <a:ext cx="1069848" cy="48006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M2</a:t>
            </a:r>
            <a:endParaRPr lang="en-US" sz="1300" dirty="0"/>
          </a:p>
        </p:txBody>
      </p:sp>
      <p:sp>
        <p:nvSpPr>
          <p:cNvPr id="31" name="Shape 23"/>
          <p:cNvSpPr/>
          <p:nvPr/>
        </p:nvSpPr>
        <p:spPr>
          <a:xfrm>
            <a:off x="5157216" y="3264408"/>
            <a:ext cx="1874520" cy="960120"/>
          </a:xfrm>
          <a:prstGeom prst="roundRect">
            <a:avLst>
              <a:gd name="adj" fmla="val 7619"/>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32" name="Shape 24"/>
          <p:cNvSpPr/>
          <p:nvPr/>
        </p:nvSpPr>
        <p:spPr>
          <a:xfrm>
            <a:off x="5285232" y="3515868"/>
            <a:ext cx="457200" cy="457200"/>
          </a:xfrm>
          <a:prstGeom prst="ellipse">
            <a:avLst/>
          </a:prstGeom>
          <a:solidFill>
            <a:srgbClr val="1565C0"/>
          </a:solidFill>
        </p:spPr>
      </p:sp>
      <p:pic>
        <p:nvPicPr>
          <p:cNvPr id="33" name="Image 6" descr="/home/claude/pptx_proj/icon_docker.png"/>
          <p:cNvPicPr>
            <a:picLocks noChangeAspect="1"/>
          </p:cNvPicPr>
          <p:nvPr/>
        </p:nvPicPr>
        <p:blipFill>
          <a:blip r:embed="rId5"/>
          <a:stretch>
            <a:fillRect/>
          </a:stretch>
        </p:blipFill>
        <p:spPr>
          <a:xfrm>
            <a:off x="5394960" y="3625596"/>
            <a:ext cx="237744" cy="237744"/>
          </a:xfrm>
          <a:prstGeom prst="rect">
            <a:avLst/>
          </a:prstGeom>
        </p:spPr>
      </p:pic>
      <p:sp>
        <p:nvSpPr>
          <p:cNvPr id="34" name="Text 25"/>
          <p:cNvSpPr/>
          <p:nvPr/>
        </p:nvSpPr>
        <p:spPr>
          <a:xfrm>
            <a:off x="5852160" y="3418027"/>
            <a:ext cx="1069848" cy="48006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M3</a:t>
            </a:r>
            <a:endParaRPr lang="en-US" sz="1300" dirty="0"/>
          </a:p>
        </p:txBody>
      </p:sp>
      <p:sp>
        <p:nvSpPr>
          <p:cNvPr id="36" name="Shape 27"/>
          <p:cNvSpPr/>
          <p:nvPr/>
        </p:nvSpPr>
        <p:spPr>
          <a:xfrm>
            <a:off x="7214616" y="3264408"/>
            <a:ext cx="1874520" cy="960120"/>
          </a:xfrm>
          <a:prstGeom prst="roundRect">
            <a:avLst>
              <a:gd name="adj" fmla="val 7619"/>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37" name="Shape 28"/>
          <p:cNvSpPr/>
          <p:nvPr/>
        </p:nvSpPr>
        <p:spPr>
          <a:xfrm>
            <a:off x="7342632" y="3515868"/>
            <a:ext cx="457200" cy="457200"/>
          </a:xfrm>
          <a:prstGeom prst="ellipse">
            <a:avLst/>
          </a:prstGeom>
          <a:solidFill>
            <a:srgbClr val="1565C0"/>
          </a:solidFill>
        </p:spPr>
      </p:sp>
      <p:pic>
        <p:nvPicPr>
          <p:cNvPr id="38" name="Image 7" descr="/home/claude/pptx_proj/icon_docker.png"/>
          <p:cNvPicPr>
            <a:picLocks noChangeAspect="1"/>
          </p:cNvPicPr>
          <p:nvPr/>
        </p:nvPicPr>
        <p:blipFill>
          <a:blip r:embed="rId5"/>
          <a:stretch>
            <a:fillRect/>
          </a:stretch>
        </p:blipFill>
        <p:spPr>
          <a:xfrm>
            <a:off x="7452360" y="3625596"/>
            <a:ext cx="237744" cy="237744"/>
          </a:xfrm>
          <a:prstGeom prst="rect">
            <a:avLst/>
          </a:prstGeom>
        </p:spPr>
      </p:pic>
      <p:sp>
        <p:nvSpPr>
          <p:cNvPr id="39" name="Text 29"/>
          <p:cNvSpPr/>
          <p:nvPr/>
        </p:nvSpPr>
        <p:spPr>
          <a:xfrm>
            <a:off x="7909560" y="3418027"/>
            <a:ext cx="1069848" cy="48006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M4</a:t>
            </a:r>
            <a:endParaRPr lang="en-US" sz="1300" dirty="0"/>
          </a:p>
        </p:txBody>
      </p:sp>
      <p:sp>
        <p:nvSpPr>
          <p:cNvPr id="41" name="Shape 31"/>
          <p:cNvSpPr/>
          <p:nvPr/>
        </p:nvSpPr>
        <p:spPr>
          <a:xfrm>
            <a:off x="9272016" y="3264408"/>
            <a:ext cx="1874520" cy="960120"/>
          </a:xfrm>
          <a:prstGeom prst="roundRect">
            <a:avLst>
              <a:gd name="adj" fmla="val 7619"/>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42" name="Shape 32"/>
          <p:cNvSpPr/>
          <p:nvPr/>
        </p:nvSpPr>
        <p:spPr>
          <a:xfrm>
            <a:off x="9400032" y="3515868"/>
            <a:ext cx="457200" cy="457200"/>
          </a:xfrm>
          <a:prstGeom prst="ellipse">
            <a:avLst/>
          </a:prstGeom>
          <a:solidFill>
            <a:srgbClr val="1565C0"/>
          </a:solidFill>
        </p:spPr>
      </p:sp>
      <p:pic>
        <p:nvPicPr>
          <p:cNvPr id="43" name="Image 8" descr="/home/claude/pptx_proj/icon_docker.png"/>
          <p:cNvPicPr>
            <a:picLocks noChangeAspect="1"/>
          </p:cNvPicPr>
          <p:nvPr/>
        </p:nvPicPr>
        <p:blipFill>
          <a:blip r:embed="rId5"/>
          <a:stretch>
            <a:fillRect/>
          </a:stretch>
        </p:blipFill>
        <p:spPr>
          <a:xfrm>
            <a:off x="9509760" y="3625596"/>
            <a:ext cx="237744" cy="237744"/>
          </a:xfrm>
          <a:prstGeom prst="rect">
            <a:avLst/>
          </a:prstGeom>
        </p:spPr>
      </p:pic>
      <p:sp>
        <p:nvSpPr>
          <p:cNvPr id="44" name="Text 33"/>
          <p:cNvSpPr/>
          <p:nvPr/>
        </p:nvSpPr>
        <p:spPr>
          <a:xfrm>
            <a:off x="9966960" y="3418027"/>
            <a:ext cx="1069848" cy="48006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M5</a:t>
            </a:r>
            <a:endParaRPr lang="en-US" sz="1300" dirty="0"/>
          </a:p>
        </p:txBody>
      </p:sp>
      <p:sp>
        <p:nvSpPr>
          <p:cNvPr id="46" name="Shape 35"/>
          <p:cNvSpPr/>
          <p:nvPr/>
        </p:nvSpPr>
        <p:spPr>
          <a:xfrm>
            <a:off x="6094476" y="4389120"/>
            <a:ext cx="0" cy="502920"/>
          </a:xfrm>
          <a:prstGeom prst="line">
            <a:avLst/>
          </a:prstGeom>
          <a:noFill/>
          <a:ln w="22225">
            <a:solidFill>
              <a:srgbClr val="9FB3C8"/>
            </a:solidFill>
            <a:prstDash val="solid"/>
            <a:tailEnd type="triangle"/>
          </a:ln>
        </p:spPr>
      </p:sp>
      <p:sp>
        <p:nvSpPr>
          <p:cNvPr id="47" name="Shape 36"/>
          <p:cNvSpPr/>
          <p:nvPr/>
        </p:nvSpPr>
        <p:spPr>
          <a:xfrm>
            <a:off x="973836" y="4892040"/>
            <a:ext cx="2450592" cy="868680"/>
          </a:xfrm>
          <a:prstGeom prst="roundRect">
            <a:avLst>
              <a:gd name="adj" fmla="val 8421"/>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48" name="Shape 37"/>
          <p:cNvSpPr/>
          <p:nvPr/>
        </p:nvSpPr>
        <p:spPr>
          <a:xfrm>
            <a:off x="1101852" y="5109210"/>
            <a:ext cx="434340" cy="434340"/>
          </a:xfrm>
          <a:prstGeom prst="ellipse">
            <a:avLst/>
          </a:prstGeom>
          <a:solidFill>
            <a:srgbClr val="148A54"/>
          </a:solidFill>
        </p:spPr>
      </p:sp>
      <p:pic>
        <p:nvPicPr>
          <p:cNvPr id="49" name="Image 9" descr="/home/claude/pptx_proj/icon_redis.png"/>
          <p:cNvPicPr>
            <a:picLocks noChangeAspect="1"/>
          </p:cNvPicPr>
          <p:nvPr/>
        </p:nvPicPr>
        <p:blipFill>
          <a:blip r:embed="rId6"/>
          <a:stretch>
            <a:fillRect/>
          </a:stretch>
        </p:blipFill>
        <p:spPr>
          <a:xfrm>
            <a:off x="1206094" y="5213452"/>
            <a:ext cx="225857" cy="225857"/>
          </a:xfrm>
          <a:prstGeom prst="rect">
            <a:avLst/>
          </a:prstGeom>
        </p:spPr>
      </p:pic>
      <p:sp>
        <p:nvSpPr>
          <p:cNvPr id="50" name="Text 38"/>
          <p:cNvSpPr/>
          <p:nvPr/>
        </p:nvSpPr>
        <p:spPr>
          <a:xfrm>
            <a:off x="1645920" y="5031029"/>
            <a:ext cx="1668780" cy="43434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BullMQ / Redis</a:t>
            </a:r>
            <a:endParaRPr lang="en-US" sz="1300" dirty="0"/>
          </a:p>
        </p:txBody>
      </p:sp>
      <p:sp>
        <p:nvSpPr>
          <p:cNvPr id="52" name="Shape 40"/>
          <p:cNvSpPr/>
          <p:nvPr/>
        </p:nvSpPr>
        <p:spPr>
          <a:xfrm>
            <a:off x="3570732" y="4892040"/>
            <a:ext cx="2450592" cy="868680"/>
          </a:xfrm>
          <a:prstGeom prst="roundRect">
            <a:avLst>
              <a:gd name="adj" fmla="val 8421"/>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53" name="Shape 41"/>
          <p:cNvSpPr/>
          <p:nvPr/>
        </p:nvSpPr>
        <p:spPr>
          <a:xfrm>
            <a:off x="3698748" y="5109210"/>
            <a:ext cx="434340" cy="434340"/>
          </a:xfrm>
          <a:prstGeom prst="ellipse">
            <a:avLst/>
          </a:prstGeom>
          <a:solidFill>
            <a:srgbClr val="1565C0"/>
          </a:solidFill>
        </p:spPr>
      </p:sp>
      <p:pic>
        <p:nvPicPr>
          <p:cNvPr id="54" name="Image 10" descr="/home/claude/pptx_proj/icon_brain.png"/>
          <p:cNvPicPr>
            <a:picLocks noChangeAspect="1"/>
          </p:cNvPicPr>
          <p:nvPr/>
        </p:nvPicPr>
        <p:blipFill>
          <a:blip r:embed="rId7"/>
          <a:stretch>
            <a:fillRect/>
          </a:stretch>
        </p:blipFill>
        <p:spPr>
          <a:xfrm>
            <a:off x="3802990" y="5213452"/>
            <a:ext cx="225857" cy="225857"/>
          </a:xfrm>
          <a:prstGeom prst="rect">
            <a:avLst/>
          </a:prstGeom>
        </p:spPr>
      </p:pic>
      <p:sp>
        <p:nvSpPr>
          <p:cNvPr id="55" name="Text 42"/>
          <p:cNvSpPr/>
          <p:nvPr/>
        </p:nvSpPr>
        <p:spPr>
          <a:xfrm>
            <a:off x="4242816" y="5031029"/>
            <a:ext cx="1668780" cy="43434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Med-Gemini</a:t>
            </a:r>
            <a:endParaRPr lang="en-US" sz="1300" dirty="0"/>
          </a:p>
        </p:txBody>
      </p:sp>
      <p:sp>
        <p:nvSpPr>
          <p:cNvPr id="57" name="Shape 44"/>
          <p:cNvSpPr/>
          <p:nvPr/>
        </p:nvSpPr>
        <p:spPr>
          <a:xfrm>
            <a:off x="6167628" y="4892040"/>
            <a:ext cx="2450592" cy="868680"/>
          </a:xfrm>
          <a:prstGeom prst="roundRect">
            <a:avLst>
              <a:gd name="adj" fmla="val 8421"/>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58" name="Shape 45"/>
          <p:cNvSpPr/>
          <p:nvPr/>
        </p:nvSpPr>
        <p:spPr>
          <a:xfrm>
            <a:off x="6295644" y="5109210"/>
            <a:ext cx="434340" cy="434340"/>
          </a:xfrm>
          <a:prstGeom prst="ellipse">
            <a:avLst/>
          </a:prstGeom>
          <a:solidFill>
            <a:srgbClr val="0E2A47"/>
          </a:solidFill>
        </p:spPr>
      </p:sp>
      <p:pic>
        <p:nvPicPr>
          <p:cNvPr id="59" name="Image 11" descr="/home/claude/pptx_proj/icon_postgresql.png"/>
          <p:cNvPicPr>
            <a:picLocks noChangeAspect="1"/>
          </p:cNvPicPr>
          <p:nvPr/>
        </p:nvPicPr>
        <p:blipFill>
          <a:blip r:embed="rId8"/>
          <a:stretch>
            <a:fillRect/>
          </a:stretch>
        </p:blipFill>
        <p:spPr>
          <a:xfrm>
            <a:off x="6399886" y="5213452"/>
            <a:ext cx="225857" cy="225857"/>
          </a:xfrm>
          <a:prstGeom prst="rect">
            <a:avLst/>
          </a:prstGeom>
        </p:spPr>
      </p:pic>
      <p:sp>
        <p:nvSpPr>
          <p:cNvPr id="60" name="Text 46"/>
          <p:cNvSpPr/>
          <p:nvPr/>
        </p:nvSpPr>
        <p:spPr>
          <a:xfrm>
            <a:off x="6839712" y="5031029"/>
            <a:ext cx="1668780" cy="43434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PostgreSQL</a:t>
            </a:r>
            <a:endParaRPr lang="en-US" sz="1300" dirty="0"/>
          </a:p>
        </p:txBody>
      </p:sp>
      <p:sp>
        <p:nvSpPr>
          <p:cNvPr id="62" name="Shape 48"/>
          <p:cNvSpPr/>
          <p:nvPr/>
        </p:nvSpPr>
        <p:spPr>
          <a:xfrm>
            <a:off x="8764524" y="4892040"/>
            <a:ext cx="2450592" cy="868680"/>
          </a:xfrm>
          <a:prstGeom prst="roundRect">
            <a:avLst>
              <a:gd name="adj" fmla="val 8421"/>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63" name="Shape 49"/>
          <p:cNvSpPr/>
          <p:nvPr/>
        </p:nvSpPr>
        <p:spPr>
          <a:xfrm>
            <a:off x="8892540" y="5109210"/>
            <a:ext cx="434340" cy="434340"/>
          </a:xfrm>
          <a:prstGeom prst="ellipse">
            <a:avLst/>
          </a:prstGeom>
          <a:solidFill>
            <a:srgbClr val="0D47A1"/>
          </a:solidFill>
        </p:spPr>
      </p:sp>
      <p:pic>
        <p:nvPicPr>
          <p:cNvPr id="64" name="Image 12" descr="/home/claude/pptx_proj/icon_timescaledb.png"/>
          <p:cNvPicPr>
            <a:picLocks noChangeAspect="1"/>
          </p:cNvPicPr>
          <p:nvPr/>
        </p:nvPicPr>
        <p:blipFill>
          <a:blip r:embed="rId9"/>
          <a:stretch>
            <a:fillRect/>
          </a:stretch>
        </p:blipFill>
        <p:spPr>
          <a:xfrm>
            <a:off x="8996782" y="5213452"/>
            <a:ext cx="225857" cy="225857"/>
          </a:xfrm>
          <a:prstGeom prst="rect">
            <a:avLst/>
          </a:prstGeom>
        </p:spPr>
      </p:pic>
      <p:sp>
        <p:nvSpPr>
          <p:cNvPr id="65" name="Text 50"/>
          <p:cNvSpPr/>
          <p:nvPr/>
        </p:nvSpPr>
        <p:spPr>
          <a:xfrm>
            <a:off x="9436608" y="5031029"/>
            <a:ext cx="1668780" cy="43434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TimescaleDB</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502920"/>
            <a:ext cx="10058400" cy="548640"/>
          </a:xfrm>
          <a:prstGeom prst="rect">
            <a:avLst/>
          </a:prstGeom>
          <a:noFill/>
        </p:spPr>
        <p:txBody>
          <a:bodyPr wrap="square" lIns="0" tIns="0" rIns="0" bIns="0" rtlCol="0" anchor="ctr"/>
          <a:lstStyle/>
          <a:p>
            <a:pPr marL="0" indent="0">
              <a:buNone/>
            </a:pPr>
            <a:r>
              <a:rPr lang="en-US" sz="3000" b="1" dirty="0">
                <a:solidFill>
                  <a:srgbClr val="0E2A47"/>
                </a:solidFill>
                <a:latin typeface="Cambria" panose="02040503050406030204" pitchFamily="34" charset="0"/>
                <a:ea typeface="Cambria" panose="02040503050406030204" pitchFamily="34" charset="-122"/>
                <a:cs typeface="Cambria" panose="02040503050406030204" pitchFamily="34" charset="-120"/>
              </a:rPr>
              <a:t>Patrones Arquitectónicos Clave</a:t>
            </a:r>
            <a:endParaRPr lang="en-US" sz="3000" dirty="0"/>
          </a:p>
        </p:txBody>
      </p:sp>
      <p:sp>
        <p:nvSpPr>
          <p:cNvPr id="4" name="Shape 2"/>
          <p:cNvSpPr/>
          <p:nvPr/>
        </p:nvSpPr>
        <p:spPr>
          <a:xfrm>
            <a:off x="731520" y="1417320"/>
            <a:ext cx="5408676" cy="4846320"/>
          </a:xfrm>
          <a:prstGeom prst="roundRect">
            <a:avLst>
              <a:gd name="adj" fmla="val 2264"/>
            </a:avLst>
          </a:prstGeom>
          <a:solidFill>
            <a:srgbClr val="F3F6F9"/>
          </a:solidFill>
          <a:ln w="12700">
            <a:solidFill>
              <a:srgbClr val="C7D6E3"/>
            </a:solidFill>
            <a:prstDash val="solid"/>
          </a:ln>
        </p:spPr>
      </p:sp>
      <p:sp>
        <p:nvSpPr>
          <p:cNvPr id="5" name="Text 3"/>
          <p:cNvSpPr/>
          <p:nvPr/>
        </p:nvSpPr>
        <p:spPr>
          <a:xfrm>
            <a:off x="731520" y="1618488"/>
            <a:ext cx="4860036" cy="320040"/>
          </a:xfrm>
          <a:prstGeom prst="rect">
            <a:avLst/>
          </a:prstGeom>
          <a:noFill/>
        </p:spPr>
        <p:txBody>
          <a:bodyPr wrap="square" lIns="0" tIns="0" rIns="0" bIns="0" rtlCol="0" anchor="ctr"/>
          <a:lstStyle/>
          <a:p>
            <a:pPr marL="0" indent="0">
              <a:buNone/>
            </a:pPr>
            <a:r>
              <a:rPr lang="en-US" sz="1400" b="1" kern="0" spc="100" dirty="0">
                <a:solidFill>
                  <a:srgbClr val="0D47A1"/>
                </a:solidFill>
                <a:latin typeface="Calibri" panose="020F0502020204030204" pitchFamily="34" charset="0"/>
                <a:ea typeface="Calibri" panose="020F0502020204030204" pitchFamily="34" charset="-122"/>
                <a:cs typeface="Calibri" panose="020F0502020204030204" pitchFamily="34" charset="-120"/>
              </a:rPr>
              <a:t>ARQUITECTURA HEXAGONAL</a:t>
            </a:r>
            <a:endParaRPr lang="en-US" sz="1400" dirty="0"/>
          </a:p>
        </p:txBody>
      </p:sp>
      <p:sp>
        <p:nvSpPr>
          <p:cNvPr id="6" name="Shape 4"/>
          <p:cNvSpPr/>
          <p:nvPr/>
        </p:nvSpPr>
        <p:spPr>
          <a:xfrm>
            <a:off x="2018538" y="2286000"/>
            <a:ext cx="2286000" cy="914400"/>
          </a:xfrm>
          <a:prstGeom prst="roundRect">
            <a:avLst>
              <a:gd name="adj" fmla="val 8000"/>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7" name="Shape 5"/>
          <p:cNvSpPr/>
          <p:nvPr/>
        </p:nvSpPr>
        <p:spPr>
          <a:xfrm>
            <a:off x="2146554" y="2514600"/>
            <a:ext cx="457200" cy="457200"/>
          </a:xfrm>
          <a:prstGeom prst="ellipse">
            <a:avLst/>
          </a:prstGeom>
          <a:solidFill>
            <a:srgbClr val="0E2A47"/>
          </a:solidFill>
        </p:spPr>
      </p:sp>
      <p:pic>
        <p:nvPicPr>
          <p:cNvPr id="8" name="Image 0" descr="/home/claude/pptx_proj/icon_cubes.png"/>
          <p:cNvPicPr>
            <a:picLocks noChangeAspect="1"/>
          </p:cNvPicPr>
          <p:nvPr/>
        </p:nvPicPr>
        <p:blipFill>
          <a:blip r:embed="rId1"/>
          <a:stretch>
            <a:fillRect/>
          </a:stretch>
        </p:blipFill>
        <p:spPr>
          <a:xfrm>
            <a:off x="2256282" y="2624328"/>
            <a:ext cx="237744" cy="237744"/>
          </a:xfrm>
          <a:prstGeom prst="rect">
            <a:avLst/>
          </a:prstGeom>
        </p:spPr>
      </p:pic>
      <p:sp>
        <p:nvSpPr>
          <p:cNvPr id="9" name="Text 6"/>
          <p:cNvSpPr/>
          <p:nvPr/>
        </p:nvSpPr>
        <p:spPr>
          <a:xfrm>
            <a:off x="2713482" y="2432304"/>
            <a:ext cx="1481328" cy="45720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Lógica de negocio</a:t>
            </a:r>
            <a:endParaRPr lang="en-US" sz="1300" dirty="0"/>
          </a:p>
        </p:txBody>
      </p:sp>
      <p:sp>
        <p:nvSpPr>
          <p:cNvPr id="10" name="Text 7"/>
          <p:cNvSpPr/>
          <p:nvPr/>
        </p:nvSpPr>
        <p:spPr>
          <a:xfrm>
            <a:off x="2759202" y="2861818"/>
            <a:ext cx="1481328" cy="365760"/>
          </a:xfrm>
          <a:prstGeom prst="rect">
            <a:avLst/>
          </a:prstGeom>
          <a:noFill/>
        </p:spPr>
        <p:txBody>
          <a:bodyPr wrap="square" lIns="0" tIns="0" rIns="0" bIns="0" rtlCol="0" anchor="t"/>
          <a:lstStyle/>
          <a:p>
            <a:pPr marL="0" indent="0">
              <a:buNone/>
            </a:pPr>
            <a:r>
              <a:rPr lang="en-US" sz="950" dirty="0">
                <a:solidFill>
                  <a:srgbClr val="5B6B7A"/>
                </a:solidFill>
                <a:latin typeface="Calibri" panose="020F0502020204030204" pitchFamily="34" charset="0"/>
                <a:ea typeface="Calibri" panose="020F0502020204030204" pitchFamily="34" charset="-122"/>
                <a:cs typeface="Calibri" panose="020F0502020204030204" pitchFamily="34" charset="-120"/>
              </a:rPr>
              <a:t>M2 · M3 · M4</a:t>
            </a:r>
            <a:endParaRPr lang="en-US" sz="950" dirty="0"/>
          </a:p>
        </p:txBody>
      </p:sp>
      <p:sp>
        <p:nvSpPr>
          <p:cNvPr id="11" name="Shape 8"/>
          <p:cNvSpPr/>
          <p:nvPr/>
        </p:nvSpPr>
        <p:spPr>
          <a:xfrm>
            <a:off x="3161538" y="3200400"/>
            <a:ext cx="0" cy="411480"/>
          </a:xfrm>
          <a:prstGeom prst="line">
            <a:avLst/>
          </a:prstGeom>
          <a:noFill/>
          <a:ln w="22225">
            <a:solidFill>
              <a:srgbClr val="9FB3C8"/>
            </a:solidFill>
            <a:prstDash val="solid"/>
            <a:tailEnd type="triangle"/>
          </a:ln>
        </p:spPr>
      </p:sp>
      <p:sp>
        <p:nvSpPr>
          <p:cNvPr id="12" name="Shape 9"/>
          <p:cNvSpPr/>
          <p:nvPr/>
        </p:nvSpPr>
        <p:spPr>
          <a:xfrm>
            <a:off x="1972818" y="3611880"/>
            <a:ext cx="2377440" cy="777240"/>
          </a:xfrm>
          <a:prstGeom prst="roundRect">
            <a:avLst>
              <a:gd name="adj" fmla="val 9412"/>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13" name="Shape 10"/>
          <p:cNvSpPr/>
          <p:nvPr/>
        </p:nvSpPr>
        <p:spPr>
          <a:xfrm>
            <a:off x="2100834" y="3806190"/>
            <a:ext cx="388620" cy="388620"/>
          </a:xfrm>
          <a:prstGeom prst="ellipse">
            <a:avLst/>
          </a:prstGeom>
          <a:solidFill>
            <a:srgbClr val="148A54"/>
          </a:solidFill>
        </p:spPr>
      </p:sp>
      <p:pic>
        <p:nvPicPr>
          <p:cNvPr id="14" name="Image 1" descr="/home/claude/pptx_proj/icon_plug.png"/>
          <p:cNvPicPr>
            <a:picLocks noChangeAspect="1"/>
          </p:cNvPicPr>
          <p:nvPr/>
        </p:nvPicPr>
        <p:blipFill>
          <a:blip r:embed="rId2"/>
          <a:stretch>
            <a:fillRect/>
          </a:stretch>
        </p:blipFill>
        <p:spPr>
          <a:xfrm>
            <a:off x="2194103" y="3899459"/>
            <a:ext cx="202082" cy="202082"/>
          </a:xfrm>
          <a:prstGeom prst="rect">
            <a:avLst/>
          </a:prstGeom>
        </p:spPr>
      </p:pic>
      <p:sp>
        <p:nvSpPr>
          <p:cNvPr id="15" name="Text 11"/>
          <p:cNvSpPr/>
          <p:nvPr/>
        </p:nvSpPr>
        <p:spPr>
          <a:xfrm>
            <a:off x="2599182" y="3736238"/>
            <a:ext cx="1641348" cy="38862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Adaptador</a:t>
            </a:r>
            <a:endParaRPr lang="en-US" sz="1300" dirty="0"/>
          </a:p>
        </p:txBody>
      </p:sp>
      <p:sp>
        <p:nvSpPr>
          <p:cNvPr id="16" name="Text 12"/>
          <p:cNvSpPr/>
          <p:nvPr/>
        </p:nvSpPr>
        <p:spPr>
          <a:xfrm>
            <a:off x="2580767" y="4101770"/>
            <a:ext cx="1641348" cy="310896"/>
          </a:xfrm>
          <a:prstGeom prst="rect">
            <a:avLst/>
          </a:prstGeom>
          <a:noFill/>
        </p:spPr>
        <p:txBody>
          <a:bodyPr wrap="square" lIns="0" tIns="0" rIns="0" bIns="0" rtlCol="0" anchor="t"/>
          <a:lstStyle/>
          <a:p>
            <a:pPr marL="0" indent="0">
              <a:buNone/>
            </a:pPr>
            <a:r>
              <a:rPr lang="en-US" sz="950" dirty="0">
                <a:solidFill>
                  <a:srgbClr val="5B6B7A"/>
                </a:solidFill>
                <a:latin typeface="Calibri" panose="020F0502020204030204" pitchFamily="34" charset="0"/>
                <a:ea typeface="Calibri" panose="020F0502020204030204" pitchFamily="34" charset="-122"/>
                <a:cs typeface="Calibri" panose="020F0502020204030204" pitchFamily="34" charset="-120"/>
              </a:rPr>
              <a:t>Contrato OpenAPI</a:t>
            </a:r>
            <a:endParaRPr lang="en-US" sz="950" dirty="0"/>
          </a:p>
        </p:txBody>
      </p:sp>
      <p:sp>
        <p:nvSpPr>
          <p:cNvPr id="17" name="Shape 13"/>
          <p:cNvSpPr/>
          <p:nvPr/>
        </p:nvSpPr>
        <p:spPr>
          <a:xfrm>
            <a:off x="3161538" y="4389120"/>
            <a:ext cx="0" cy="365760"/>
          </a:xfrm>
          <a:prstGeom prst="line">
            <a:avLst/>
          </a:prstGeom>
          <a:noFill/>
          <a:ln w="22225">
            <a:solidFill>
              <a:srgbClr val="9FB3C8"/>
            </a:solidFill>
            <a:prstDash val="solid"/>
            <a:tailEnd type="triangle"/>
          </a:ln>
        </p:spPr>
      </p:sp>
      <p:sp>
        <p:nvSpPr>
          <p:cNvPr id="18" name="Shape 14"/>
          <p:cNvSpPr/>
          <p:nvPr/>
        </p:nvSpPr>
        <p:spPr>
          <a:xfrm>
            <a:off x="2064258" y="4754880"/>
            <a:ext cx="2194560" cy="777240"/>
          </a:xfrm>
          <a:prstGeom prst="roundRect">
            <a:avLst>
              <a:gd name="adj" fmla="val 9412"/>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19" name="Shape 15"/>
          <p:cNvSpPr/>
          <p:nvPr/>
        </p:nvSpPr>
        <p:spPr>
          <a:xfrm>
            <a:off x="2192274" y="4949190"/>
            <a:ext cx="388620" cy="388620"/>
          </a:xfrm>
          <a:prstGeom prst="ellipse">
            <a:avLst/>
          </a:prstGeom>
          <a:solidFill>
            <a:srgbClr val="1565C0"/>
          </a:solidFill>
        </p:spPr>
      </p:sp>
      <p:pic>
        <p:nvPicPr>
          <p:cNvPr id="20" name="Image 2" descr="/home/claude/pptx_proj/icon_brain.png"/>
          <p:cNvPicPr>
            <a:picLocks noChangeAspect="1"/>
          </p:cNvPicPr>
          <p:nvPr/>
        </p:nvPicPr>
        <p:blipFill>
          <a:blip r:embed="rId3"/>
          <a:stretch>
            <a:fillRect/>
          </a:stretch>
        </p:blipFill>
        <p:spPr>
          <a:xfrm>
            <a:off x="2285543" y="5042459"/>
            <a:ext cx="202082" cy="202082"/>
          </a:xfrm>
          <a:prstGeom prst="rect">
            <a:avLst/>
          </a:prstGeom>
        </p:spPr>
      </p:pic>
      <p:sp>
        <p:nvSpPr>
          <p:cNvPr id="21" name="Text 16"/>
          <p:cNvSpPr/>
          <p:nvPr/>
        </p:nvSpPr>
        <p:spPr>
          <a:xfrm>
            <a:off x="2690622" y="4879238"/>
            <a:ext cx="1458468" cy="38862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Med-Gemini</a:t>
            </a:r>
            <a:endParaRPr lang="en-US" sz="1300" dirty="0"/>
          </a:p>
        </p:txBody>
      </p:sp>
      <p:sp>
        <p:nvSpPr>
          <p:cNvPr id="22" name="Text 17"/>
          <p:cNvSpPr/>
          <p:nvPr/>
        </p:nvSpPr>
        <p:spPr>
          <a:xfrm>
            <a:off x="2690622" y="5244770"/>
            <a:ext cx="1458468" cy="310896"/>
          </a:xfrm>
          <a:prstGeom prst="rect">
            <a:avLst/>
          </a:prstGeom>
          <a:noFill/>
        </p:spPr>
        <p:txBody>
          <a:bodyPr wrap="square" lIns="0" tIns="0" rIns="0" bIns="0" rtlCol="0" anchor="t"/>
          <a:lstStyle/>
          <a:p>
            <a:pPr marL="0" indent="0">
              <a:buNone/>
            </a:pPr>
            <a:r>
              <a:rPr lang="en-US" sz="950" dirty="0">
                <a:solidFill>
                  <a:srgbClr val="5B6B7A"/>
                </a:solidFill>
                <a:latin typeface="Calibri" panose="020F0502020204030204" pitchFamily="34" charset="0"/>
                <a:ea typeface="Calibri" panose="020F0502020204030204" pitchFamily="34" charset="-122"/>
                <a:cs typeface="Calibri" panose="020F0502020204030204" pitchFamily="34" charset="-120"/>
              </a:rPr>
              <a:t>Motor clínico IA</a:t>
            </a:r>
            <a:endParaRPr lang="en-US" sz="950" dirty="0"/>
          </a:p>
        </p:txBody>
      </p:sp>
      <p:sp>
        <p:nvSpPr>
          <p:cNvPr id="23" name="Text 18"/>
          <p:cNvSpPr/>
          <p:nvPr/>
        </p:nvSpPr>
        <p:spPr>
          <a:xfrm>
            <a:off x="731520" y="5760720"/>
            <a:ext cx="4860036" cy="365760"/>
          </a:xfrm>
          <a:prstGeom prst="rect">
            <a:avLst/>
          </a:prstGeom>
          <a:noFill/>
        </p:spPr>
        <p:txBody>
          <a:bodyPr wrap="square" lIns="0" tIns="0" rIns="0" bIns="0" rtlCol="0" anchor="ctr"/>
          <a:lstStyle/>
          <a:p>
            <a:pPr marL="0" indent="0" algn="ctr">
              <a:buNone/>
            </a:pPr>
            <a:r>
              <a:rPr lang="en-US" sz="1050" i="1" dirty="0">
                <a:solidFill>
                  <a:srgbClr val="5B6B7A"/>
                </a:solidFill>
                <a:latin typeface="Calibri" panose="020F0502020204030204" pitchFamily="34" charset="0"/>
                <a:ea typeface="Calibri" panose="020F0502020204030204" pitchFamily="34" charset="-122"/>
                <a:cs typeface="Calibri" panose="020F0502020204030204" pitchFamily="34" charset="-120"/>
              </a:rPr>
              <a:t>Circuit breaker  ·  modo degradado  ·  reemplazable sin downtime</a:t>
            </a:r>
            <a:endParaRPr lang="en-US" sz="1050" dirty="0"/>
          </a:p>
        </p:txBody>
      </p:sp>
      <p:sp>
        <p:nvSpPr>
          <p:cNvPr id="24" name="Shape 19"/>
          <p:cNvSpPr/>
          <p:nvPr/>
        </p:nvSpPr>
        <p:spPr>
          <a:xfrm>
            <a:off x="6323076" y="1417320"/>
            <a:ext cx="5408676" cy="4846320"/>
          </a:xfrm>
          <a:prstGeom prst="roundRect">
            <a:avLst>
              <a:gd name="adj" fmla="val 2264"/>
            </a:avLst>
          </a:prstGeom>
          <a:solidFill>
            <a:srgbClr val="E4F5EC"/>
          </a:solidFill>
          <a:ln w="12700">
            <a:solidFill>
              <a:srgbClr val="BFE0CD"/>
            </a:solidFill>
            <a:prstDash val="solid"/>
          </a:ln>
        </p:spPr>
      </p:sp>
      <p:sp>
        <p:nvSpPr>
          <p:cNvPr id="25" name="Text 20"/>
          <p:cNvSpPr/>
          <p:nvPr/>
        </p:nvSpPr>
        <p:spPr>
          <a:xfrm>
            <a:off x="6597396" y="1618488"/>
            <a:ext cx="4860036" cy="320040"/>
          </a:xfrm>
          <a:prstGeom prst="rect">
            <a:avLst/>
          </a:prstGeom>
          <a:noFill/>
        </p:spPr>
        <p:txBody>
          <a:bodyPr wrap="square" lIns="0" tIns="0" rIns="0" bIns="0" rtlCol="0" anchor="ctr"/>
          <a:lstStyle/>
          <a:p>
            <a:pPr marL="0" indent="0">
              <a:buNone/>
            </a:pPr>
            <a:r>
              <a:rPr lang="en-US" sz="1400" b="1" kern="0" spc="100" dirty="0">
                <a:solidFill>
                  <a:srgbClr val="148A54"/>
                </a:solidFill>
                <a:latin typeface="Calibri" panose="020F0502020204030204" pitchFamily="34" charset="0"/>
                <a:ea typeface="Calibri" panose="020F0502020204030204" pitchFamily="34" charset="-122"/>
                <a:cs typeface="Calibri" panose="020F0502020204030204" pitchFamily="34" charset="-120"/>
              </a:rPr>
              <a:t>ARQUITECTURA ORIENTADA A EVENTOS</a:t>
            </a:r>
            <a:endParaRPr lang="en-US" sz="1400" dirty="0"/>
          </a:p>
        </p:txBody>
      </p:sp>
      <p:sp>
        <p:nvSpPr>
          <p:cNvPr id="26" name="Shape 21"/>
          <p:cNvSpPr/>
          <p:nvPr/>
        </p:nvSpPr>
        <p:spPr>
          <a:xfrm>
            <a:off x="7975854" y="2286000"/>
            <a:ext cx="2103120" cy="777240"/>
          </a:xfrm>
          <a:prstGeom prst="roundRect">
            <a:avLst>
              <a:gd name="adj" fmla="val 9412"/>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27" name="Shape 22"/>
          <p:cNvSpPr/>
          <p:nvPr/>
        </p:nvSpPr>
        <p:spPr>
          <a:xfrm>
            <a:off x="8103870" y="2480310"/>
            <a:ext cx="388620" cy="388620"/>
          </a:xfrm>
          <a:prstGeom prst="ellipse">
            <a:avLst/>
          </a:prstGeom>
          <a:solidFill>
            <a:srgbClr val="1565C0"/>
          </a:solidFill>
        </p:spPr>
      </p:sp>
      <p:pic>
        <p:nvPicPr>
          <p:cNvPr id="28" name="Image 3" descr="/home/claude/pptx_proj/icon_bolt.png"/>
          <p:cNvPicPr>
            <a:picLocks noChangeAspect="1"/>
          </p:cNvPicPr>
          <p:nvPr/>
        </p:nvPicPr>
        <p:blipFill>
          <a:blip r:embed="rId4"/>
          <a:stretch>
            <a:fillRect/>
          </a:stretch>
        </p:blipFill>
        <p:spPr>
          <a:xfrm>
            <a:off x="8197139" y="2573579"/>
            <a:ext cx="202082" cy="202082"/>
          </a:xfrm>
          <a:prstGeom prst="rect">
            <a:avLst/>
          </a:prstGeom>
        </p:spPr>
      </p:pic>
      <p:sp>
        <p:nvSpPr>
          <p:cNvPr id="29" name="Text 23"/>
          <p:cNvSpPr/>
          <p:nvPr/>
        </p:nvSpPr>
        <p:spPr>
          <a:xfrm>
            <a:off x="8602218" y="2410358"/>
            <a:ext cx="1367028" cy="38862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M2 / M3</a:t>
            </a:r>
            <a:endParaRPr lang="en-US" sz="1300" dirty="0"/>
          </a:p>
        </p:txBody>
      </p:sp>
      <p:sp>
        <p:nvSpPr>
          <p:cNvPr id="30" name="Text 24"/>
          <p:cNvSpPr/>
          <p:nvPr/>
        </p:nvSpPr>
        <p:spPr>
          <a:xfrm>
            <a:off x="8561578" y="2799385"/>
            <a:ext cx="1367028" cy="310896"/>
          </a:xfrm>
          <a:prstGeom prst="rect">
            <a:avLst/>
          </a:prstGeom>
          <a:noFill/>
        </p:spPr>
        <p:txBody>
          <a:bodyPr wrap="square" lIns="0" tIns="0" rIns="0" bIns="0" rtlCol="0" anchor="t"/>
          <a:lstStyle/>
          <a:p>
            <a:pPr marL="0" indent="0">
              <a:buNone/>
            </a:pPr>
            <a:r>
              <a:rPr lang="en-US" sz="950" dirty="0">
                <a:solidFill>
                  <a:srgbClr val="5B6B7A"/>
                </a:solidFill>
                <a:latin typeface="Calibri" panose="020F0502020204030204" pitchFamily="34" charset="0"/>
                <a:ea typeface="Calibri" panose="020F0502020204030204" pitchFamily="34" charset="-122"/>
                <a:cs typeface="Calibri" panose="020F0502020204030204" pitchFamily="34" charset="-120"/>
              </a:rPr>
              <a:t>Productor de eventos</a:t>
            </a:r>
            <a:endParaRPr lang="en-US" sz="950" dirty="0"/>
          </a:p>
        </p:txBody>
      </p:sp>
      <p:sp>
        <p:nvSpPr>
          <p:cNvPr id="31" name="Shape 25"/>
          <p:cNvSpPr/>
          <p:nvPr/>
        </p:nvSpPr>
        <p:spPr>
          <a:xfrm>
            <a:off x="9027414" y="3063240"/>
            <a:ext cx="0" cy="365760"/>
          </a:xfrm>
          <a:prstGeom prst="line">
            <a:avLst/>
          </a:prstGeom>
          <a:noFill/>
          <a:ln w="22225">
            <a:solidFill>
              <a:srgbClr val="9FB3C8"/>
            </a:solidFill>
            <a:prstDash val="solid"/>
            <a:tailEnd type="triangle"/>
          </a:ln>
        </p:spPr>
      </p:sp>
      <p:sp>
        <p:nvSpPr>
          <p:cNvPr id="32" name="Shape 26"/>
          <p:cNvSpPr/>
          <p:nvPr/>
        </p:nvSpPr>
        <p:spPr>
          <a:xfrm>
            <a:off x="7884414" y="3429000"/>
            <a:ext cx="2286000" cy="777240"/>
          </a:xfrm>
          <a:prstGeom prst="roundRect">
            <a:avLst>
              <a:gd name="adj" fmla="val 9412"/>
            </a:avLst>
          </a:prstGeom>
          <a:solidFill>
            <a:srgbClr val="FFFFFF"/>
          </a:solidFill>
          <a:ln w="12700">
            <a:solidFill>
              <a:srgbClr val="D7E1EA"/>
            </a:solidFill>
            <a:prstDash val="solid"/>
          </a:ln>
          <a:effectLst>
            <a:outerShdw blurRad="76200" dist="25400" dir="5400000" algn="bl" rotWithShape="0">
              <a:srgbClr val="1B2A3A">
                <a:alpha val="18000"/>
              </a:srgbClr>
            </a:outerShdw>
          </a:effectLst>
        </p:spPr>
      </p:sp>
      <p:sp>
        <p:nvSpPr>
          <p:cNvPr id="33" name="Shape 27"/>
          <p:cNvSpPr/>
          <p:nvPr/>
        </p:nvSpPr>
        <p:spPr>
          <a:xfrm>
            <a:off x="8012430" y="3623310"/>
            <a:ext cx="388620" cy="388620"/>
          </a:xfrm>
          <a:prstGeom prst="ellipse">
            <a:avLst/>
          </a:prstGeom>
          <a:solidFill>
            <a:srgbClr val="148A54"/>
          </a:solidFill>
        </p:spPr>
      </p:sp>
      <p:pic>
        <p:nvPicPr>
          <p:cNvPr id="34" name="Image 4" descr="/home/claude/pptx_proj/icon_redis.png"/>
          <p:cNvPicPr>
            <a:picLocks noChangeAspect="1"/>
          </p:cNvPicPr>
          <p:nvPr/>
        </p:nvPicPr>
        <p:blipFill>
          <a:blip r:embed="rId5"/>
          <a:stretch>
            <a:fillRect/>
          </a:stretch>
        </p:blipFill>
        <p:spPr>
          <a:xfrm>
            <a:off x="8105699" y="3716579"/>
            <a:ext cx="202082" cy="202082"/>
          </a:xfrm>
          <a:prstGeom prst="rect">
            <a:avLst/>
          </a:prstGeom>
        </p:spPr>
      </p:pic>
      <p:sp>
        <p:nvSpPr>
          <p:cNvPr id="35" name="Text 28"/>
          <p:cNvSpPr/>
          <p:nvPr/>
        </p:nvSpPr>
        <p:spPr>
          <a:xfrm>
            <a:off x="8510778" y="3553358"/>
            <a:ext cx="1549908" cy="388620"/>
          </a:xfrm>
          <a:prstGeom prst="rect">
            <a:avLst/>
          </a:prstGeom>
          <a:noFill/>
        </p:spPr>
        <p:txBody>
          <a:bodyPr wrap="square" lIns="0" tIns="0" rIns="0" bIns="0" rtlCol="0" anchor="b"/>
          <a:lstStyle/>
          <a:p>
            <a:pPr marL="0" indent="0">
              <a:buNone/>
            </a:pPr>
            <a:r>
              <a:rPr lang="en-US" sz="1300" b="1" dirty="0">
                <a:solidFill>
                  <a:srgbClr val="0E2A47"/>
                </a:solidFill>
                <a:latin typeface="Calibri" panose="020F0502020204030204" pitchFamily="34" charset="0"/>
                <a:ea typeface="Calibri" panose="020F0502020204030204" pitchFamily="34" charset="-122"/>
                <a:cs typeface="Calibri" panose="020F0502020204030204" pitchFamily="34" charset="-120"/>
              </a:rPr>
              <a:t>BullMQ / Redis</a:t>
            </a:r>
            <a:endParaRPr lang="en-US" sz="1300" dirty="0"/>
          </a:p>
        </p:txBody>
      </p:sp>
      <p:sp>
        <p:nvSpPr>
          <p:cNvPr id="36" name="Text 29"/>
          <p:cNvSpPr/>
          <p:nvPr/>
        </p:nvSpPr>
        <p:spPr>
          <a:xfrm>
            <a:off x="8510778" y="3942385"/>
            <a:ext cx="1549908" cy="310896"/>
          </a:xfrm>
          <a:prstGeom prst="rect">
            <a:avLst/>
          </a:prstGeom>
          <a:noFill/>
        </p:spPr>
        <p:txBody>
          <a:bodyPr wrap="square" lIns="0" tIns="0" rIns="0" bIns="0" rtlCol="0" anchor="t"/>
          <a:lstStyle/>
          <a:p>
            <a:pPr marL="0" indent="0">
              <a:buNone/>
            </a:pPr>
            <a:r>
              <a:rPr lang="en-US" sz="950" dirty="0">
                <a:solidFill>
                  <a:srgbClr val="5B6B7A"/>
                </a:solidFill>
                <a:latin typeface="Calibri" panose="020F0502020204030204" pitchFamily="34" charset="0"/>
                <a:ea typeface="Calibri" panose="020F0502020204030204" pitchFamily="34" charset="-122"/>
                <a:cs typeface="Calibri" panose="020F0502020204030204" pitchFamily="34" charset="-120"/>
              </a:rPr>
              <a:t>Cola persistente</a:t>
            </a:r>
            <a:endParaRPr lang="en-US" sz="950" dirty="0"/>
          </a:p>
        </p:txBody>
      </p:sp>
      <p:sp>
        <p:nvSpPr>
          <p:cNvPr id="37" name="Shape 30"/>
          <p:cNvSpPr/>
          <p:nvPr/>
        </p:nvSpPr>
        <p:spPr>
          <a:xfrm>
            <a:off x="9027414" y="4206240"/>
            <a:ext cx="0" cy="365760"/>
          </a:xfrm>
          <a:prstGeom prst="line">
            <a:avLst/>
          </a:prstGeom>
          <a:noFill/>
          <a:ln w="22225">
            <a:solidFill>
              <a:srgbClr val="9FB3C8"/>
            </a:solidFill>
            <a:prstDash val="solid"/>
            <a:tailEnd type="triangle"/>
          </a:ln>
        </p:spPr>
      </p:sp>
      <p:sp>
        <p:nvSpPr>
          <p:cNvPr id="38" name="Shape 31"/>
          <p:cNvSpPr/>
          <p:nvPr/>
        </p:nvSpPr>
        <p:spPr>
          <a:xfrm>
            <a:off x="6597396" y="4572000"/>
            <a:ext cx="1528572" cy="548640"/>
          </a:xfrm>
          <a:prstGeom prst="roundRect">
            <a:avLst>
              <a:gd name="adj" fmla="val 13333"/>
            </a:avLst>
          </a:prstGeom>
          <a:solidFill>
            <a:srgbClr val="FFFFFF"/>
          </a:solidFill>
          <a:ln w="12700">
            <a:solidFill>
              <a:srgbClr val="BFE0CD"/>
            </a:solidFill>
            <a:prstDash val="solid"/>
          </a:ln>
        </p:spPr>
      </p:sp>
      <p:sp>
        <p:nvSpPr>
          <p:cNvPr id="39" name="Text 32"/>
          <p:cNvSpPr/>
          <p:nvPr/>
        </p:nvSpPr>
        <p:spPr>
          <a:xfrm>
            <a:off x="6597396" y="4572000"/>
            <a:ext cx="1528572" cy="548640"/>
          </a:xfrm>
          <a:prstGeom prst="rect">
            <a:avLst/>
          </a:prstGeom>
          <a:noFill/>
        </p:spPr>
        <p:txBody>
          <a:bodyPr wrap="square" lIns="0" tIns="0" rIns="0" bIns="0" rtlCol="0" anchor="ctr"/>
          <a:lstStyle/>
          <a:p>
            <a:pPr marL="0" indent="0" algn="ctr">
              <a:buNone/>
            </a:pPr>
            <a:r>
              <a:rPr lang="en-US" sz="1050" b="1" dirty="0">
                <a:solidFill>
                  <a:srgbClr val="0E2A47"/>
                </a:solidFill>
                <a:latin typeface="Calibri" panose="020F0502020204030204" pitchFamily="34" charset="0"/>
                <a:ea typeface="Calibri" panose="020F0502020204030204" pitchFamily="34" charset="-122"/>
                <a:cs typeface="Calibri" panose="020F0502020204030204" pitchFamily="34" charset="-120"/>
              </a:rPr>
              <a:t>Paciente</a:t>
            </a:r>
            <a:endParaRPr lang="en-US" sz="1050" dirty="0"/>
          </a:p>
        </p:txBody>
      </p:sp>
      <p:sp>
        <p:nvSpPr>
          <p:cNvPr id="40" name="Shape 33"/>
          <p:cNvSpPr/>
          <p:nvPr/>
        </p:nvSpPr>
        <p:spPr>
          <a:xfrm>
            <a:off x="8263128" y="4572000"/>
            <a:ext cx="1528572" cy="548640"/>
          </a:xfrm>
          <a:prstGeom prst="roundRect">
            <a:avLst>
              <a:gd name="adj" fmla="val 13333"/>
            </a:avLst>
          </a:prstGeom>
          <a:solidFill>
            <a:srgbClr val="FFFFFF"/>
          </a:solidFill>
          <a:ln w="12700">
            <a:solidFill>
              <a:srgbClr val="BFE0CD"/>
            </a:solidFill>
            <a:prstDash val="solid"/>
          </a:ln>
        </p:spPr>
      </p:sp>
      <p:sp>
        <p:nvSpPr>
          <p:cNvPr id="41" name="Text 34"/>
          <p:cNvSpPr/>
          <p:nvPr/>
        </p:nvSpPr>
        <p:spPr>
          <a:xfrm>
            <a:off x="8263128" y="4572000"/>
            <a:ext cx="1528572" cy="548640"/>
          </a:xfrm>
          <a:prstGeom prst="rect">
            <a:avLst/>
          </a:prstGeom>
          <a:noFill/>
        </p:spPr>
        <p:txBody>
          <a:bodyPr wrap="square" lIns="0" tIns="0" rIns="0" bIns="0" rtlCol="0" anchor="ctr"/>
          <a:lstStyle/>
          <a:p>
            <a:pPr marL="0" indent="0" algn="ctr">
              <a:buNone/>
            </a:pPr>
            <a:r>
              <a:rPr lang="en-US" sz="1050" b="1" dirty="0">
                <a:solidFill>
                  <a:srgbClr val="0E2A47"/>
                </a:solidFill>
                <a:latin typeface="Calibri" panose="020F0502020204030204" pitchFamily="34" charset="0"/>
                <a:ea typeface="Calibri" panose="020F0502020204030204" pitchFamily="34" charset="-122"/>
                <a:cs typeface="Calibri" panose="020F0502020204030204" pitchFamily="34" charset="-120"/>
              </a:rPr>
              <a:t>Médico</a:t>
            </a:r>
            <a:endParaRPr lang="en-US" sz="1050" dirty="0"/>
          </a:p>
        </p:txBody>
      </p:sp>
      <p:sp>
        <p:nvSpPr>
          <p:cNvPr id="42" name="Shape 35"/>
          <p:cNvSpPr/>
          <p:nvPr/>
        </p:nvSpPr>
        <p:spPr>
          <a:xfrm>
            <a:off x="9928860" y="4572000"/>
            <a:ext cx="1528572" cy="548640"/>
          </a:xfrm>
          <a:prstGeom prst="roundRect">
            <a:avLst>
              <a:gd name="adj" fmla="val 13333"/>
            </a:avLst>
          </a:prstGeom>
          <a:solidFill>
            <a:srgbClr val="FFFFFF"/>
          </a:solidFill>
          <a:ln w="12700">
            <a:solidFill>
              <a:srgbClr val="BFE0CD"/>
            </a:solidFill>
            <a:prstDash val="solid"/>
          </a:ln>
        </p:spPr>
      </p:sp>
      <p:sp>
        <p:nvSpPr>
          <p:cNvPr id="43" name="Text 36"/>
          <p:cNvSpPr/>
          <p:nvPr/>
        </p:nvSpPr>
        <p:spPr>
          <a:xfrm>
            <a:off x="9928860" y="4572000"/>
            <a:ext cx="1528572" cy="548640"/>
          </a:xfrm>
          <a:prstGeom prst="rect">
            <a:avLst/>
          </a:prstGeom>
          <a:noFill/>
        </p:spPr>
        <p:txBody>
          <a:bodyPr wrap="square" lIns="0" tIns="0" rIns="0" bIns="0" rtlCol="0" anchor="ctr"/>
          <a:lstStyle/>
          <a:p>
            <a:pPr marL="0" indent="0" algn="ctr">
              <a:buNone/>
            </a:pPr>
            <a:r>
              <a:rPr lang="en-US" sz="1050" b="1" dirty="0">
                <a:solidFill>
                  <a:srgbClr val="0E2A47"/>
                </a:solidFill>
                <a:latin typeface="Calibri" panose="020F0502020204030204" pitchFamily="34" charset="0"/>
                <a:ea typeface="Calibri" panose="020F0502020204030204" pitchFamily="34" charset="-122"/>
                <a:cs typeface="Calibri" panose="020F0502020204030204" pitchFamily="34" charset="-120"/>
              </a:rPr>
              <a:t>M5 Auditoría</a:t>
            </a:r>
            <a:endParaRPr lang="en-US" sz="1050" dirty="0"/>
          </a:p>
        </p:txBody>
      </p:sp>
      <p:sp>
        <p:nvSpPr>
          <p:cNvPr id="44" name="Text 37"/>
          <p:cNvSpPr/>
          <p:nvPr/>
        </p:nvSpPr>
        <p:spPr>
          <a:xfrm>
            <a:off x="6597396" y="5760720"/>
            <a:ext cx="4860036" cy="365760"/>
          </a:xfrm>
          <a:prstGeom prst="rect">
            <a:avLst/>
          </a:prstGeom>
          <a:noFill/>
        </p:spPr>
        <p:txBody>
          <a:bodyPr wrap="square" lIns="0" tIns="0" rIns="0" bIns="0" rtlCol="0" anchor="ctr"/>
          <a:lstStyle/>
          <a:p>
            <a:pPr marL="0" indent="0" algn="ctr">
              <a:buNone/>
            </a:pPr>
            <a:r>
              <a:rPr lang="en-US" sz="1050" i="1" dirty="0">
                <a:solidFill>
                  <a:srgbClr val="5B6B7A"/>
                </a:solidFill>
                <a:latin typeface="Calibri" panose="020F0502020204030204" pitchFamily="34" charset="0"/>
                <a:ea typeface="Calibri" panose="020F0502020204030204" pitchFamily="34" charset="-122"/>
                <a:cs typeface="Calibri" panose="020F0502020204030204" pitchFamily="34" charset="-120"/>
              </a:rPr>
              <a:t>Notificación simultánea  ·  sin bloqueo  ·  sin pérdida de eventos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3" name="Text 1"/>
          <p:cNvSpPr/>
          <p:nvPr/>
        </p:nvSpPr>
        <p:spPr>
          <a:xfrm>
            <a:off x="457200" y="502920"/>
            <a:ext cx="10058400" cy="54864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Seguridad, Auditoría y Despliegue</a:t>
            </a:r>
            <a:endParaRPr lang="en-US" sz="3000" dirty="0"/>
          </a:p>
        </p:txBody>
      </p:sp>
      <p:sp>
        <p:nvSpPr>
          <p:cNvPr id="4" name="Shape 2"/>
          <p:cNvSpPr/>
          <p:nvPr/>
        </p:nvSpPr>
        <p:spPr>
          <a:xfrm>
            <a:off x="457200" y="1508760"/>
            <a:ext cx="3331845" cy="3709670"/>
          </a:xfrm>
          <a:prstGeom prst="roundRect">
            <a:avLst>
              <a:gd name="adj" fmla="val 3122"/>
            </a:avLst>
          </a:prstGeom>
          <a:solidFill>
            <a:srgbClr val="13324F"/>
          </a:solidFill>
          <a:ln w="12700">
            <a:solidFill>
              <a:srgbClr val="1F4A70"/>
            </a:solidFill>
            <a:prstDash val="solid"/>
          </a:ln>
        </p:spPr>
      </p:sp>
      <p:sp>
        <p:nvSpPr>
          <p:cNvPr id="5" name="Shape 3"/>
          <p:cNvSpPr/>
          <p:nvPr/>
        </p:nvSpPr>
        <p:spPr>
          <a:xfrm>
            <a:off x="1917192" y="1783080"/>
            <a:ext cx="594360" cy="594360"/>
          </a:xfrm>
          <a:prstGeom prst="ellipse">
            <a:avLst/>
          </a:prstGeom>
          <a:solidFill>
            <a:srgbClr val="148A54"/>
          </a:solidFill>
        </p:spPr>
      </p:sp>
      <p:pic>
        <p:nvPicPr>
          <p:cNvPr id="6" name="Image 0" descr="/home/claude/pptx_proj/icon_shield.png"/>
          <p:cNvPicPr>
            <a:picLocks noChangeAspect="1"/>
          </p:cNvPicPr>
          <p:nvPr/>
        </p:nvPicPr>
        <p:blipFill>
          <a:blip r:embed="rId1"/>
          <a:stretch>
            <a:fillRect/>
          </a:stretch>
        </p:blipFill>
        <p:spPr>
          <a:xfrm>
            <a:off x="2059838" y="1925726"/>
            <a:ext cx="309067" cy="309067"/>
          </a:xfrm>
          <a:prstGeom prst="rect">
            <a:avLst/>
          </a:prstGeom>
        </p:spPr>
      </p:pic>
      <p:sp>
        <p:nvSpPr>
          <p:cNvPr id="7" name="Text 4"/>
          <p:cNvSpPr/>
          <p:nvPr/>
        </p:nvSpPr>
        <p:spPr>
          <a:xfrm>
            <a:off x="640080" y="2514600"/>
            <a:ext cx="3148584" cy="36576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Seguridad</a:t>
            </a:r>
            <a:endParaRPr lang="en-US" sz="1500" dirty="0"/>
          </a:p>
        </p:txBody>
      </p:sp>
      <p:sp>
        <p:nvSpPr>
          <p:cNvPr id="8" name="Shape 5"/>
          <p:cNvSpPr/>
          <p:nvPr/>
        </p:nvSpPr>
        <p:spPr>
          <a:xfrm>
            <a:off x="4337050" y="1508760"/>
            <a:ext cx="3011805" cy="3764915"/>
          </a:xfrm>
          <a:prstGeom prst="roundRect">
            <a:avLst>
              <a:gd name="adj" fmla="val 3122"/>
            </a:avLst>
          </a:prstGeom>
          <a:solidFill>
            <a:srgbClr val="13324F"/>
          </a:solidFill>
          <a:ln w="12700">
            <a:solidFill>
              <a:srgbClr val="1F4A70"/>
            </a:solidFill>
            <a:prstDash val="solid"/>
          </a:ln>
        </p:spPr>
      </p:sp>
      <p:sp>
        <p:nvSpPr>
          <p:cNvPr id="9" name="Shape 6"/>
          <p:cNvSpPr/>
          <p:nvPr/>
        </p:nvSpPr>
        <p:spPr>
          <a:xfrm>
            <a:off x="5797296" y="1783080"/>
            <a:ext cx="594360" cy="594360"/>
          </a:xfrm>
          <a:prstGeom prst="ellipse">
            <a:avLst/>
          </a:prstGeom>
          <a:solidFill>
            <a:srgbClr val="1565C0"/>
          </a:solidFill>
        </p:spPr>
      </p:sp>
      <p:pic>
        <p:nvPicPr>
          <p:cNvPr id="10" name="Image 1" descr="/home/claude/pptx_proj/icon_clipboard.png"/>
          <p:cNvPicPr>
            <a:picLocks noChangeAspect="1"/>
          </p:cNvPicPr>
          <p:nvPr/>
        </p:nvPicPr>
        <p:blipFill>
          <a:blip r:embed="rId2"/>
          <a:stretch>
            <a:fillRect/>
          </a:stretch>
        </p:blipFill>
        <p:spPr>
          <a:xfrm>
            <a:off x="5939942" y="1925726"/>
            <a:ext cx="309067" cy="309067"/>
          </a:xfrm>
          <a:prstGeom prst="rect">
            <a:avLst/>
          </a:prstGeom>
        </p:spPr>
      </p:pic>
      <p:sp>
        <p:nvSpPr>
          <p:cNvPr id="11" name="Text 7"/>
          <p:cNvSpPr/>
          <p:nvPr/>
        </p:nvSpPr>
        <p:spPr>
          <a:xfrm>
            <a:off x="4520184" y="2514600"/>
            <a:ext cx="3148584" cy="36576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Auditoría Inmutable</a:t>
            </a:r>
            <a:endParaRPr lang="en-US" sz="1500" dirty="0"/>
          </a:p>
        </p:txBody>
      </p:sp>
      <p:sp>
        <p:nvSpPr>
          <p:cNvPr id="12" name="Shape 8"/>
          <p:cNvSpPr/>
          <p:nvPr/>
        </p:nvSpPr>
        <p:spPr>
          <a:xfrm>
            <a:off x="8217535" y="1508760"/>
            <a:ext cx="3335020" cy="3764915"/>
          </a:xfrm>
          <a:prstGeom prst="roundRect">
            <a:avLst>
              <a:gd name="adj" fmla="val 3122"/>
            </a:avLst>
          </a:prstGeom>
          <a:solidFill>
            <a:srgbClr val="13324F"/>
          </a:solidFill>
          <a:ln w="12700">
            <a:solidFill>
              <a:srgbClr val="1F4A70"/>
            </a:solidFill>
            <a:prstDash val="solid"/>
          </a:ln>
        </p:spPr>
      </p:sp>
      <p:sp>
        <p:nvSpPr>
          <p:cNvPr id="13" name="Shape 9"/>
          <p:cNvSpPr/>
          <p:nvPr/>
        </p:nvSpPr>
        <p:spPr>
          <a:xfrm>
            <a:off x="9677400" y="1783080"/>
            <a:ext cx="594360" cy="594360"/>
          </a:xfrm>
          <a:prstGeom prst="ellipse">
            <a:avLst/>
          </a:prstGeom>
          <a:solidFill>
            <a:srgbClr val="3F8EF7"/>
          </a:solidFill>
        </p:spPr>
      </p:sp>
      <p:pic>
        <p:nvPicPr>
          <p:cNvPr id="14" name="Image 2" descr="/home/claude/pptx_proj/icon_gcp.png"/>
          <p:cNvPicPr>
            <a:picLocks noChangeAspect="1"/>
          </p:cNvPicPr>
          <p:nvPr/>
        </p:nvPicPr>
        <p:blipFill>
          <a:blip r:embed="rId3"/>
          <a:stretch>
            <a:fillRect/>
          </a:stretch>
        </p:blipFill>
        <p:spPr>
          <a:xfrm>
            <a:off x="9820046" y="1925726"/>
            <a:ext cx="309067" cy="309067"/>
          </a:xfrm>
          <a:prstGeom prst="rect">
            <a:avLst/>
          </a:prstGeom>
        </p:spPr>
      </p:pic>
      <p:sp>
        <p:nvSpPr>
          <p:cNvPr id="15" name="Text 10"/>
          <p:cNvSpPr/>
          <p:nvPr/>
        </p:nvSpPr>
        <p:spPr>
          <a:xfrm>
            <a:off x="8400288" y="2514600"/>
            <a:ext cx="3148584" cy="36576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Despliegue</a:t>
            </a:r>
            <a:endParaRPr lang="en-US" sz="1500" dirty="0"/>
          </a:p>
        </p:txBody>
      </p:sp>
      <p:sp>
        <p:nvSpPr>
          <p:cNvPr id="16" name="Shape 11"/>
          <p:cNvSpPr/>
          <p:nvPr/>
        </p:nvSpPr>
        <p:spPr>
          <a:xfrm>
            <a:off x="713232" y="3145536"/>
            <a:ext cx="82296" cy="82296"/>
          </a:xfrm>
          <a:prstGeom prst="ellipse">
            <a:avLst/>
          </a:prstGeom>
          <a:solidFill>
            <a:srgbClr val="6FCF97"/>
          </a:solidFill>
        </p:spPr>
      </p:sp>
      <p:sp>
        <p:nvSpPr>
          <p:cNvPr id="17" name="Text 12"/>
          <p:cNvSpPr/>
          <p:nvPr/>
        </p:nvSpPr>
        <p:spPr>
          <a:xfrm>
            <a:off x="896112" y="2990088"/>
            <a:ext cx="2892552" cy="457200"/>
          </a:xfrm>
          <a:prstGeom prst="rect">
            <a:avLst/>
          </a:prstGeom>
          <a:noFill/>
        </p:spPr>
        <p:txBody>
          <a:bodyPr wrap="square" lIns="0" tIns="0" rIns="0" bIns="0" rtlCol="0" anchor="t"/>
          <a:lstStyle/>
          <a:p>
            <a:pPr marL="0" indent="0">
              <a:buNone/>
            </a:pPr>
            <a:r>
              <a:rPr lang="en-US" sz="1200" dirty="0">
                <a:solidFill>
                  <a:srgbClr val="DCE6EF"/>
                </a:solidFill>
                <a:latin typeface="Calibri" panose="020F0502020204030204" pitchFamily="34" charset="0"/>
                <a:ea typeface="Calibri" panose="020F0502020204030204" pitchFamily="34" charset="-122"/>
                <a:cs typeface="Calibri" panose="020F0502020204030204" pitchFamily="34" charset="-120"/>
              </a:rPr>
              <a:t>JWT emitido por M1</a:t>
            </a:r>
            <a:endParaRPr lang="en-US" sz="1200" dirty="0"/>
          </a:p>
        </p:txBody>
      </p:sp>
      <p:sp>
        <p:nvSpPr>
          <p:cNvPr id="18" name="Shape 13"/>
          <p:cNvSpPr/>
          <p:nvPr/>
        </p:nvSpPr>
        <p:spPr>
          <a:xfrm>
            <a:off x="713232" y="3712464"/>
            <a:ext cx="82296" cy="82296"/>
          </a:xfrm>
          <a:prstGeom prst="ellipse">
            <a:avLst/>
          </a:prstGeom>
          <a:solidFill>
            <a:srgbClr val="6FCF97"/>
          </a:solidFill>
        </p:spPr>
      </p:sp>
      <p:sp>
        <p:nvSpPr>
          <p:cNvPr id="19" name="Text 14"/>
          <p:cNvSpPr/>
          <p:nvPr/>
        </p:nvSpPr>
        <p:spPr>
          <a:xfrm>
            <a:off x="896112" y="3557016"/>
            <a:ext cx="2892552" cy="457200"/>
          </a:xfrm>
          <a:prstGeom prst="rect">
            <a:avLst/>
          </a:prstGeom>
          <a:noFill/>
        </p:spPr>
        <p:txBody>
          <a:bodyPr wrap="square" lIns="0" tIns="0" rIns="0" bIns="0" rtlCol="0" anchor="t"/>
          <a:lstStyle/>
          <a:p>
            <a:pPr marL="0" indent="0">
              <a:buNone/>
            </a:pPr>
            <a:r>
              <a:rPr lang="en-US" sz="1200" dirty="0">
                <a:solidFill>
                  <a:srgbClr val="DCE6EF"/>
                </a:solidFill>
                <a:latin typeface="Calibri" panose="020F0502020204030204" pitchFamily="34" charset="0"/>
                <a:ea typeface="Calibri" panose="020F0502020204030204" pitchFamily="34" charset="-122"/>
                <a:cs typeface="Calibri" panose="020F0502020204030204" pitchFamily="34" charset="-120"/>
              </a:rPr>
              <a:t>Validación centralizada en Gateway</a:t>
            </a:r>
            <a:endParaRPr lang="en-US" sz="1200" dirty="0"/>
          </a:p>
        </p:txBody>
      </p:sp>
      <p:sp>
        <p:nvSpPr>
          <p:cNvPr id="20" name="Shape 15"/>
          <p:cNvSpPr/>
          <p:nvPr/>
        </p:nvSpPr>
        <p:spPr>
          <a:xfrm>
            <a:off x="713232" y="4279392"/>
            <a:ext cx="82296" cy="82296"/>
          </a:xfrm>
          <a:prstGeom prst="ellipse">
            <a:avLst/>
          </a:prstGeom>
          <a:solidFill>
            <a:srgbClr val="6FCF97"/>
          </a:solidFill>
        </p:spPr>
      </p:sp>
      <p:sp>
        <p:nvSpPr>
          <p:cNvPr id="21" name="Text 16"/>
          <p:cNvSpPr/>
          <p:nvPr/>
        </p:nvSpPr>
        <p:spPr>
          <a:xfrm>
            <a:off x="896112" y="4123944"/>
            <a:ext cx="2892552" cy="457200"/>
          </a:xfrm>
          <a:prstGeom prst="rect">
            <a:avLst/>
          </a:prstGeom>
          <a:noFill/>
        </p:spPr>
        <p:txBody>
          <a:bodyPr wrap="square" lIns="0" tIns="0" rIns="0" bIns="0" rtlCol="0" anchor="t"/>
          <a:lstStyle/>
          <a:p>
            <a:pPr marL="0" indent="0">
              <a:buNone/>
            </a:pPr>
            <a:r>
              <a:rPr lang="en-US" sz="1200" dirty="0">
                <a:solidFill>
                  <a:srgbClr val="DCE6EF"/>
                </a:solidFill>
                <a:latin typeface="Calibri" panose="020F0502020204030204" pitchFamily="34" charset="0"/>
                <a:ea typeface="Calibri" panose="020F0502020204030204" pitchFamily="34" charset="-122"/>
                <a:cs typeface="Calibri" panose="020F0502020204030204" pitchFamily="34" charset="-120"/>
              </a:rPr>
              <a:t>TLS 1.3 en tránsito</a:t>
            </a:r>
            <a:endParaRPr lang="en-US" sz="1200" dirty="0"/>
          </a:p>
        </p:txBody>
      </p:sp>
      <p:sp>
        <p:nvSpPr>
          <p:cNvPr id="22" name="Shape 17"/>
          <p:cNvSpPr/>
          <p:nvPr/>
        </p:nvSpPr>
        <p:spPr>
          <a:xfrm>
            <a:off x="713232" y="4846320"/>
            <a:ext cx="82296" cy="82296"/>
          </a:xfrm>
          <a:prstGeom prst="ellipse">
            <a:avLst/>
          </a:prstGeom>
          <a:solidFill>
            <a:srgbClr val="6FCF97"/>
          </a:solidFill>
        </p:spPr>
      </p:sp>
      <p:sp>
        <p:nvSpPr>
          <p:cNvPr id="23" name="Text 18"/>
          <p:cNvSpPr/>
          <p:nvPr/>
        </p:nvSpPr>
        <p:spPr>
          <a:xfrm>
            <a:off x="896112" y="4690872"/>
            <a:ext cx="2892552" cy="457200"/>
          </a:xfrm>
          <a:prstGeom prst="rect">
            <a:avLst/>
          </a:prstGeom>
          <a:noFill/>
        </p:spPr>
        <p:txBody>
          <a:bodyPr wrap="square" lIns="0" tIns="0" rIns="0" bIns="0" rtlCol="0" anchor="t"/>
          <a:lstStyle/>
          <a:p>
            <a:pPr marL="0" indent="0">
              <a:buNone/>
            </a:pPr>
            <a:r>
              <a:rPr lang="en-US" sz="1200" dirty="0">
                <a:solidFill>
                  <a:srgbClr val="DCE6EF"/>
                </a:solidFill>
                <a:latin typeface="Calibri" panose="020F0502020204030204" pitchFamily="34" charset="0"/>
                <a:ea typeface="Calibri" panose="020F0502020204030204" pitchFamily="34" charset="-122"/>
                <a:cs typeface="Calibri" panose="020F0502020204030204" pitchFamily="34" charset="-120"/>
              </a:rPr>
              <a:t>AES-256 / pgcrypto en reposo</a:t>
            </a:r>
            <a:endParaRPr lang="en-US" sz="1200" dirty="0"/>
          </a:p>
        </p:txBody>
      </p:sp>
      <p:sp>
        <p:nvSpPr>
          <p:cNvPr id="24" name="Shape 19"/>
          <p:cNvSpPr/>
          <p:nvPr/>
        </p:nvSpPr>
        <p:spPr>
          <a:xfrm>
            <a:off x="4593336" y="3145536"/>
            <a:ext cx="82296" cy="82296"/>
          </a:xfrm>
          <a:prstGeom prst="ellipse">
            <a:avLst/>
          </a:prstGeom>
          <a:solidFill>
            <a:srgbClr val="6FCF97"/>
          </a:solidFill>
        </p:spPr>
      </p:sp>
      <p:sp>
        <p:nvSpPr>
          <p:cNvPr id="25" name="Text 20"/>
          <p:cNvSpPr/>
          <p:nvPr/>
        </p:nvSpPr>
        <p:spPr>
          <a:xfrm>
            <a:off x="4776216" y="2990088"/>
            <a:ext cx="2892552" cy="457200"/>
          </a:xfrm>
          <a:prstGeom prst="rect">
            <a:avLst/>
          </a:prstGeom>
          <a:noFill/>
        </p:spPr>
        <p:txBody>
          <a:bodyPr wrap="square" lIns="0" tIns="0" rIns="0" bIns="0" rtlCol="0" anchor="t"/>
          <a:lstStyle/>
          <a:p>
            <a:pPr marL="0" indent="0">
              <a:buNone/>
            </a:pPr>
            <a:r>
              <a:rPr lang="en-US" sz="1200" dirty="0">
                <a:solidFill>
                  <a:srgbClr val="DCE6EF"/>
                </a:solidFill>
                <a:latin typeface="Calibri" panose="020F0502020204030204" pitchFamily="34" charset="0"/>
                <a:ea typeface="Calibri" panose="020F0502020204030204" pitchFamily="34" charset="-122"/>
                <a:cs typeface="Calibri" panose="020F0502020204030204" pitchFamily="34" charset="-120"/>
              </a:rPr>
              <a:t>Todos los módulos publican eventos</a:t>
            </a:r>
            <a:endParaRPr lang="en-US" sz="1200" dirty="0"/>
          </a:p>
        </p:txBody>
      </p:sp>
      <p:sp>
        <p:nvSpPr>
          <p:cNvPr id="26" name="Shape 21"/>
          <p:cNvSpPr/>
          <p:nvPr/>
        </p:nvSpPr>
        <p:spPr>
          <a:xfrm>
            <a:off x="4593336" y="3712464"/>
            <a:ext cx="82296" cy="82296"/>
          </a:xfrm>
          <a:prstGeom prst="ellipse">
            <a:avLst/>
          </a:prstGeom>
          <a:solidFill>
            <a:srgbClr val="6FCF97"/>
          </a:solidFill>
        </p:spPr>
      </p:sp>
      <p:sp>
        <p:nvSpPr>
          <p:cNvPr id="27" name="Text 22"/>
          <p:cNvSpPr/>
          <p:nvPr/>
        </p:nvSpPr>
        <p:spPr>
          <a:xfrm>
            <a:off x="4776216" y="3557016"/>
            <a:ext cx="2892552" cy="457200"/>
          </a:xfrm>
          <a:prstGeom prst="rect">
            <a:avLst/>
          </a:prstGeom>
          <a:noFill/>
        </p:spPr>
        <p:txBody>
          <a:bodyPr wrap="square" lIns="0" tIns="0" rIns="0" bIns="0" rtlCol="0" anchor="t"/>
          <a:lstStyle/>
          <a:p>
            <a:pPr marL="0" indent="0">
              <a:buNone/>
            </a:pPr>
            <a:r>
              <a:rPr lang="en-US" sz="1200" dirty="0">
                <a:solidFill>
                  <a:srgbClr val="DCE6EF"/>
                </a:solidFill>
                <a:latin typeface="Calibri" panose="020F0502020204030204" pitchFamily="34" charset="0"/>
                <a:ea typeface="Calibri" panose="020F0502020204030204" pitchFamily="34" charset="-122"/>
                <a:cs typeface="Calibri" panose="020F0502020204030204" pitchFamily="34" charset="-120"/>
              </a:rPr>
              <a:t>M5 hashea con SHA-256</a:t>
            </a:r>
            <a:endParaRPr lang="en-US" sz="1200" dirty="0"/>
          </a:p>
        </p:txBody>
      </p:sp>
      <p:sp>
        <p:nvSpPr>
          <p:cNvPr id="28" name="Shape 23"/>
          <p:cNvSpPr/>
          <p:nvPr/>
        </p:nvSpPr>
        <p:spPr>
          <a:xfrm>
            <a:off x="4593336" y="4279392"/>
            <a:ext cx="82296" cy="82296"/>
          </a:xfrm>
          <a:prstGeom prst="ellipse">
            <a:avLst/>
          </a:prstGeom>
          <a:solidFill>
            <a:srgbClr val="6FCF97"/>
          </a:solidFill>
        </p:spPr>
      </p:sp>
      <p:sp>
        <p:nvSpPr>
          <p:cNvPr id="29" name="Text 24"/>
          <p:cNvSpPr/>
          <p:nvPr/>
        </p:nvSpPr>
        <p:spPr>
          <a:xfrm>
            <a:off x="4776216" y="4123944"/>
            <a:ext cx="2892552" cy="457200"/>
          </a:xfrm>
          <a:prstGeom prst="rect">
            <a:avLst/>
          </a:prstGeom>
          <a:noFill/>
        </p:spPr>
        <p:txBody>
          <a:bodyPr wrap="square" lIns="0" tIns="0" rIns="0" bIns="0" rtlCol="0" anchor="t"/>
          <a:lstStyle/>
          <a:p>
            <a:pPr marL="0" indent="0">
              <a:buNone/>
            </a:pPr>
            <a:r>
              <a:rPr lang="en-US" sz="1200" dirty="0">
                <a:solidFill>
                  <a:srgbClr val="DCE6EF"/>
                </a:solidFill>
                <a:latin typeface="Calibri" panose="020F0502020204030204" pitchFamily="34" charset="0"/>
                <a:ea typeface="Calibri" panose="020F0502020204030204" pitchFamily="34" charset="-122"/>
                <a:cs typeface="Calibri" panose="020F0502020204030204" pitchFamily="34" charset="-120"/>
              </a:rPr>
              <a:t>Almacenamiento inmutable</a:t>
            </a:r>
            <a:endParaRPr lang="en-US" sz="1200" dirty="0"/>
          </a:p>
        </p:txBody>
      </p:sp>
      <p:sp>
        <p:nvSpPr>
          <p:cNvPr id="30" name="Shape 25"/>
          <p:cNvSpPr/>
          <p:nvPr/>
        </p:nvSpPr>
        <p:spPr>
          <a:xfrm>
            <a:off x="4593336" y="4846320"/>
            <a:ext cx="82296" cy="82296"/>
          </a:xfrm>
          <a:prstGeom prst="ellipse">
            <a:avLst/>
          </a:prstGeom>
          <a:solidFill>
            <a:srgbClr val="6FCF97"/>
          </a:solidFill>
        </p:spPr>
      </p:sp>
      <p:sp>
        <p:nvSpPr>
          <p:cNvPr id="31" name="Text 26"/>
          <p:cNvSpPr/>
          <p:nvPr/>
        </p:nvSpPr>
        <p:spPr>
          <a:xfrm>
            <a:off x="4776216" y="4690872"/>
            <a:ext cx="2892552" cy="457200"/>
          </a:xfrm>
          <a:prstGeom prst="rect">
            <a:avLst/>
          </a:prstGeom>
          <a:noFill/>
        </p:spPr>
        <p:txBody>
          <a:bodyPr wrap="square" lIns="0" tIns="0" rIns="0" bIns="0" rtlCol="0" anchor="t"/>
          <a:lstStyle/>
          <a:p>
            <a:pPr marL="0" indent="0">
              <a:buNone/>
            </a:pPr>
            <a:r>
              <a:rPr lang="en-US" sz="1200" dirty="0">
                <a:solidFill>
                  <a:srgbClr val="DCE6EF"/>
                </a:solidFill>
                <a:latin typeface="Calibri" panose="020F0502020204030204" pitchFamily="34" charset="0"/>
                <a:ea typeface="Calibri" panose="020F0502020204030204" pitchFamily="34" charset="-122"/>
                <a:cs typeface="Calibri" panose="020F0502020204030204" pitchFamily="34" charset="-120"/>
              </a:rPr>
              <a:t>1.842 logs verificados (MSP)</a:t>
            </a:r>
            <a:endParaRPr lang="en-US" sz="1200" dirty="0"/>
          </a:p>
        </p:txBody>
      </p:sp>
      <p:sp>
        <p:nvSpPr>
          <p:cNvPr id="32" name="Shape 27"/>
          <p:cNvSpPr/>
          <p:nvPr/>
        </p:nvSpPr>
        <p:spPr>
          <a:xfrm>
            <a:off x="8473440" y="3145536"/>
            <a:ext cx="82296" cy="82296"/>
          </a:xfrm>
          <a:prstGeom prst="ellipse">
            <a:avLst/>
          </a:prstGeom>
          <a:solidFill>
            <a:srgbClr val="6FCF97"/>
          </a:solidFill>
        </p:spPr>
      </p:sp>
      <p:sp>
        <p:nvSpPr>
          <p:cNvPr id="33" name="Text 28"/>
          <p:cNvSpPr/>
          <p:nvPr/>
        </p:nvSpPr>
        <p:spPr>
          <a:xfrm>
            <a:off x="8656320" y="2990088"/>
            <a:ext cx="2892552" cy="457200"/>
          </a:xfrm>
          <a:prstGeom prst="rect">
            <a:avLst/>
          </a:prstGeom>
          <a:noFill/>
        </p:spPr>
        <p:txBody>
          <a:bodyPr wrap="square" lIns="0" tIns="0" rIns="0" bIns="0" rtlCol="0" anchor="t"/>
          <a:lstStyle/>
          <a:p>
            <a:pPr marL="0" indent="0">
              <a:buNone/>
            </a:pPr>
            <a:r>
              <a:rPr lang="en-US" sz="1200" dirty="0">
                <a:solidFill>
                  <a:srgbClr val="DCE6EF"/>
                </a:solidFill>
                <a:latin typeface="Calibri" panose="020F0502020204030204" pitchFamily="34" charset="0"/>
                <a:ea typeface="Calibri" panose="020F0502020204030204" pitchFamily="34" charset="-122"/>
                <a:cs typeface="Calibri" panose="020F0502020204030204" pitchFamily="34" charset="-120"/>
              </a:rPr>
              <a:t>Contenedor Docker por servicio</a:t>
            </a:r>
            <a:endParaRPr lang="en-US" sz="1200" dirty="0"/>
          </a:p>
        </p:txBody>
      </p:sp>
      <p:sp>
        <p:nvSpPr>
          <p:cNvPr id="34" name="Shape 29"/>
          <p:cNvSpPr/>
          <p:nvPr/>
        </p:nvSpPr>
        <p:spPr>
          <a:xfrm>
            <a:off x="8473440" y="3712464"/>
            <a:ext cx="82296" cy="82296"/>
          </a:xfrm>
          <a:prstGeom prst="ellipse">
            <a:avLst/>
          </a:prstGeom>
          <a:solidFill>
            <a:srgbClr val="6FCF97"/>
          </a:solidFill>
        </p:spPr>
      </p:sp>
      <p:sp>
        <p:nvSpPr>
          <p:cNvPr id="35" name="Text 30"/>
          <p:cNvSpPr/>
          <p:nvPr/>
        </p:nvSpPr>
        <p:spPr>
          <a:xfrm>
            <a:off x="8656320" y="3557016"/>
            <a:ext cx="2892552" cy="457200"/>
          </a:xfrm>
          <a:prstGeom prst="rect">
            <a:avLst/>
          </a:prstGeom>
          <a:noFill/>
        </p:spPr>
        <p:txBody>
          <a:bodyPr wrap="square" lIns="0" tIns="0" rIns="0" bIns="0" rtlCol="0" anchor="t"/>
          <a:lstStyle/>
          <a:p>
            <a:pPr marL="0" indent="0">
              <a:buNone/>
            </a:pPr>
            <a:r>
              <a:rPr lang="en-US" sz="1200" dirty="0">
                <a:solidFill>
                  <a:srgbClr val="DCE6EF"/>
                </a:solidFill>
                <a:latin typeface="Calibri" panose="020F0502020204030204" pitchFamily="34" charset="0"/>
                <a:ea typeface="Calibri" panose="020F0502020204030204" pitchFamily="34" charset="-122"/>
                <a:cs typeface="Calibri" panose="020F0502020204030204" pitchFamily="34" charset="-120"/>
              </a:rPr>
              <a:t>Cloud Run · GCP</a:t>
            </a:r>
            <a:endParaRPr lang="en-US" sz="1200" dirty="0"/>
          </a:p>
        </p:txBody>
      </p:sp>
      <p:sp>
        <p:nvSpPr>
          <p:cNvPr id="36" name="Shape 31"/>
          <p:cNvSpPr/>
          <p:nvPr/>
        </p:nvSpPr>
        <p:spPr>
          <a:xfrm>
            <a:off x="8473440" y="4279392"/>
            <a:ext cx="82296" cy="82296"/>
          </a:xfrm>
          <a:prstGeom prst="ellipse">
            <a:avLst/>
          </a:prstGeom>
          <a:solidFill>
            <a:srgbClr val="6FCF97"/>
          </a:solidFill>
        </p:spPr>
      </p:sp>
      <p:sp>
        <p:nvSpPr>
          <p:cNvPr id="37" name="Text 32"/>
          <p:cNvSpPr/>
          <p:nvPr/>
        </p:nvSpPr>
        <p:spPr>
          <a:xfrm>
            <a:off x="8656320" y="4123944"/>
            <a:ext cx="2892552" cy="457200"/>
          </a:xfrm>
          <a:prstGeom prst="rect">
            <a:avLst/>
          </a:prstGeom>
          <a:noFill/>
        </p:spPr>
        <p:txBody>
          <a:bodyPr wrap="square" lIns="0" tIns="0" rIns="0" bIns="0" rtlCol="0" anchor="t"/>
          <a:lstStyle/>
          <a:p>
            <a:pPr marL="0" indent="0">
              <a:buNone/>
            </a:pPr>
            <a:r>
              <a:rPr lang="en-US" sz="1200" dirty="0">
                <a:solidFill>
                  <a:srgbClr val="DCE6EF"/>
                </a:solidFill>
                <a:latin typeface="Calibri" panose="020F0502020204030204" pitchFamily="34" charset="0"/>
                <a:ea typeface="Calibri" panose="020F0502020204030204" pitchFamily="34" charset="-122"/>
                <a:cs typeface="Calibri" panose="020F0502020204030204" pitchFamily="34" charset="-120"/>
              </a:rPr>
              <a:t>Autoescalado independiente</a:t>
            </a:r>
            <a:endParaRPr lang="en-US" sz="1200" dirty="0"/>
          </a:p>
        </p:txBody>
      </p:sp>
      <p:sp>
        <p:nvSpPr>
          <p:cNvPr id="38" name="Shape 33"/>
          <p:cNvSpPr/>
          <p:nvPr/>
        </p:nvSpPr>
        <p:spPr>
          <a:xfrm>
            <a:off x="8473440" y="4846320"/>
            <a:ext cx="82296" cy="82296"/>
          </a:xfrm>
          <a:prstGeom prst="ellipse">
            <a:avLst/>
          </a:prstGeom>
          <a:solidFill>
            <a:srgbClr val="6FCF97"/>
          </a:solidFill>
        </p:spPr>
      </p:sp>
      <p:sp>
        <p:nvSpPr>
          <p:cNvPr id="39" name="Text 34"/>
          <p:cNvSpPr/>
          <p:nvPr/>
        </p:nvSpPr>
        <p:spPr>
          <a:xfrm>
            <a:off x="8656320" y="4690872"/>
            <a:ext cx="2892552" cy="457200"/>
          </a:xfrm>
          <a:prstGeom prst="rect">
            <a:avLst/>
          </a:prstGeom>
          <a:noFill/>
        </p:spPr>
        <p:txBody>
          <a:bodyPr wrap="square" lIns="0" tIns="0" rIns="0" bIns="0" rtlCol="0" anchor="t"/>
          <a:lstStyle/>
          <a:p>
            <a:pPr marL="0" indent="0">
              <a:buNone/>
            </a:pPr>
            <a:r>
              <a:rPr lang="en-US" sz="1200" dirty="0">
                <a:solidFill>
                  <a:srgbClr val="DCE6EF"/>
                </a:solidFill>
                <a:latin typeface="Calibri" panose="020F0502020204030204" pitchFamily="34" charset="0"/>
                <a:ea typeface="Calibri" panose="020F0502020204030204" pitchFamily="34" charset="-122"/>
                <a:cs typeface="Calibri" panose="020F0502020204030204" pitchFamily="34" charset="-120"/>
              </a:rPr>
              <a:t>Disponibilidad ≥99.5%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904</Words>
  <Application>WPS Presentation</Application>
  <PresentationFormat>On-screen Show (16:9)</PresentationFormat>
  <Paragraphs>94</Paragraphs>
  <Slides>3</Slides>
  <Notes>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vt:i4>
      </vt:variant>
    </vt:vector>
  </HeadingPairs>
  <TitlesOfParts>
    <vt:vector size="15"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Office Theme</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Lady Robalino</cp:lastModifiedBy>
  <cp:revision>3</cp:revision>
  <dcterms:created xsi:type="dcterms:W3CDTF">2026-07-13T06:04:00Z</dcterms:created>
  <dcterms:modified xsi:type="dcterms:W3CDTF">2026-07-13T06:36:46Z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3082-12.1.0.26880</vt:lpwstr>
  </property>
  <property fmtid="{D5CDD505-2E9C-101B-9397-08002B2CF9AE}" pid="3" name="ICV">
    <vt:lpwstr>0B49DCD6706A404E9F074E698BC175EA_12</vt:lpwstr>
  </property>
</Properties>
</file>